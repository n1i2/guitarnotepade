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9" r:id="rId1"/>
  </p:sldMasterIdLst>
  <p:notesMasterIdLst>
    <p:notesMasterId r:id="rId17"/>
  </p:notesMasterIdLst>
  <p:handoutMasterIdLst>
    <p:handoutMasterId r:id="rId18"/>
  </p:handoutMasterIdLst>
  <p:sldIdLst>
    <p:sldId id="542" r:id="rId2"/>
    <p:sldId id="588" r:id="rId3"/>
    <p:sldId id="544" r:id="rId4"/>
    <p:sldId id="586" r:id="rId5"/>
    <p:sldId id="581" r:id="rId6"/>
    <p:sldId id="548" r:id="rId7"/>
    <p:sldId id="582" r:id="rId8"/>
    <p:sldId id="546" r:id="rId9"/>
    <p:sldId id="583" r:id="rId10"/>
    <p:sldId id="584" r:id="rId11"/>
    <p:sldId id="575" r:id="rId12"/>
    <p:sldId id="568" r:id="rId13"/>
    <p:sldId id="576" r:id="rId14"/>
    <p:sldId id="560" r:id="rId15"/>
    <p:sldId id="589" r:id="rId16"/>
  </p:sldIdLst>
  <p:sldSz cx="12195175" cy="6859588"/>
  <p:notesSz cx="6797675" cy="9874250"/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489" userDrawn="1">
          <p15:clr>
            <a:srgbClr val="A4A3A4"/>
          </p15:clr>
        </p15:guide>
        <p15:guide id="4" orient="horz" pos="3001" userDrawn="1">
          <p15:clr>
            <a:srgbClr val="A4A3A4"/>
          </p15:clr>
        </p15:guide>
        <p15:guide id="5" pos="7478">
          <p15:clr>
            <a:srgbClr val="A4A3A4"/>
          </p15:clr>
        </p15:guide>
        <p15:guide id="6" pos="205">
          <p15:clr>
            <a:srgbClr val="A4A3A4"/>
          </p15:clr>
        </p15:guide>
        <p15:guide id="7" pos="3849">
          <p15:clr>
            <a:srgbClr val="A4A3A4"/>
          </p15:clr>
        </p15:guide>
        <p15:guide id="8" pos="4708">
          <p15:clr>
            <a:srgbClr val="A4A3A4"/>
          </p15:clr>
        </p15:guide>
        <p15:guide id="9" pos="4812">
          <p15:clr>
            <a:srgbClr val="A4A3A4"/>
          </p15:clr>
        </p15:guide>
        <p15:guide id="10" pos="2865">
          <p15:clr>
            <a:srgbClr val="A4A3A4"/>
          </p15:clr>
        </p15:guide>
        <p15:guide id="11" pos="29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351">
          <p15:clr>
            <a:srgbClr val="A4A3A4"/>
          </p15:clr>
        </p15:guide>
        <p15:guide id="3" pos="395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onebrook, Shannon" initials="SS" lastIdx="7" clrIdx="0">
    <p:extLst/>
  </p:cmAuthor>
  <p:cmAuthor id="2" name="Volha Chekun" initials="VC" lastIdx="36" clrIdx="1">
    <p:extLst>
      <p:ext uri="{19B8F6BF-5375-455C-9EA6-DF929625EA0E}">
        <p15:presenceInfo xmlns:p15="http://schemas.microsoft.com/office/powerpoint/2012/main" userId="S-1-5-21-307287956-644454935-2370743088-191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283"/>
    <a:srgbClr val="F8F8F8"/>
    <a:srgbClr val="E4E2E2"/>
    <a:srgbClr val="F0AB00"/>
    <a:srgbClr val="FF0000"/>
    <a:srgbClr val="666666"/>
    <a:srgbClr val="2B3F7B"/>
    <a:srgbClr val="9C277B"/>
    <a:srgbClr val="D4652D"/>
    <a:srgbClr val="9E30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991" autoAdjust="0"/>
  </p:normalViewPr>
  <p:slideViewPr>
    <p:cSldViewPr snapToGrid="0" showGuides="1">
      <p:cViewPr>
        <p:scale>
          <a:sx n="150" d="100"/>
          <a:sy n="150" d="100"/>
        </p:scale>
        <p:origin x="-114" y="330"/>
      </p:cViewPr>
      <p:guideLst>
        <p:guide orient="horz" pos="1489"/>
        <p:guide orient="horz" pos="3001"/>
        <p:guide pos="7478"/>
        <p:guide pos="205"/>
        <p:guide pos="3849"/>
        <p:guide pos="4708"/>
        <p:guide pos="4812"/>
        <p:guide pos="2865"/>
        <p:guide pos="29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5" d="100"/>
          <a:sy n="85" d="100"/>
        </p:scale>
        <p:origin x="-4200" y="-82"/>
      </p:cViewPr>
      <p:guideLst>
        <p:guide orient="horz" pos="3110"/>
        <p:guide pos="351"/>
        <p:guide pos="395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26008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/>
              <a:pPr algn="ctr"/>
              <a:t>‹#›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57213" y="661988"/>
            <a:ext cx="5715000" cy="3214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4171" y="4548205"/>
            <a:ext cx="5709333" cy="469669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31497" y="9627396"/>
            <a:ext cx="934681" cy="2217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7D8C2C35-2B8A-446E-BEC0-FD36716C29AC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180975" indent="-180975" algn="l" defTabSz="1088776" rtl="0" eaLnBrk="1" latinLnBrk="0" hangingPunct="1">
      <a:buClr>
        <a:schemeClr val="accent1"/>
      </a:buClr>
      <a:buSzPct val="100000"/>
      <a:buFont typeface="Wingdings" pitchFamily="2" charset="2"/>
      <a:buChar char="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57188" indent="-176213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397" y="1122623"/>
            <a:ext cx="9146381" cy="2388153"/>
          </a:xfrm>
        </p:spPr>
        <p:txBody>
          <a:bodyPr anchor="b"/>
          <a:lstStyle>
            <a:lvl1pPr algn="ctr">
              <a:defRPr sz="600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397" y="3602872"/>
            <a:ext cx="9146381" cy="16561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91" indent="0" algn="ctr">
              <a:buNone/>
              <a:defRPr sz="2000"/>
            </a:lvl2pPr>
            <a:lvl3pPr marL="914583" indent="0" algn="ctr">
              <a:buNone/>
              <a:defRPr sz="1800"/>
            </a:lvl3pPr>
            <a:lvl4pPr marL="1371874" indent="0" algn="ctr">
              <a:buNone/>
              <a:defRPr sz="1600"/>
            </a:lvl4pPr>
            <a:lvl5pPr marL="1829166" indent="0" algn="ctr">
              <a:buNone/>
              <a:defRPr sz="1600"/>
            </a:lvl5pPr>
            <a:lvl6pPr marL="2286457" indent="0" algn="ctr">
              <a:buNone/>
              <a:defRPr sz="1600"/>
            </a:lvl6pPr>
            <a:lvl7pPr marL="2743749" indent="0" algn="ctr">
              <a:buNone/>
              <a:defRPr sz="1600"/>
            </a:lvl7pPr>
            <a:lvl8pPr marL="3201040" indent="0" algn="ctr">
              <a:buNone/>
              <a:defRPr sz="1600"/>
            </a:lvl8pPr>
            <a:lvl9pPr marL="3658332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82049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20706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2067" y="1710134"/>
            <a:ext cx="10518338" cy="2853398"/>
          </a:xfrm>
        </p:spPr>
        <p:txBody>
          <a:bodyPr anchor="b"/>
          <a:lstStyle>
            <a:lvl1pPr>
              <a:defRPr sz="600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2067" y="4590526"/>
            <a:ext cx="10518338" cy="15005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9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58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87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91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4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7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3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52464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418" y="1826048"/>
            <a:ext cx="5182949" cy="435234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3808" y="1826048"/>
            <a:ext cx="5182949" cy="435234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5026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0007" y="365210"/>
            <a:ext cx="10518338" cy="132587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40007" y="1681552"/>
            <a:ext cx="5159130" cy="824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91" indent="0">
              <a:buNone/>
              <a:defRPr sz="2000" b="1"/>
            </a:lvl2pPr>
            <a:lvl3pPr marL="914583" indent="0">
              <a:buNone/>
              <a:defRPr sz="1800" b="1"/>
            </a:lvl3pPr>
            <a:lvl4pPr marL="1371874" indent="0">
              <a:buNone/>
              <a:defRPr sz="1600" b="1"/>
            </a:lvl4pPr>
            <a:lvl5pPr marL="1829166" indent="0">
              <a:buNone/>
              <a:defRPr sz="1600" b="1"/>
            </a:lvl5pPr>
            <a:lvl6pPr marL="2286457" indent="0">
              <a:buNone/>
              <a:defRPr sz="1600" b="1"/>
            </a:lvl6pPr>
            <a:lvl7pPr marL="2743749" indent="0">
              <a:buNone/>
              <a:defRPr sz="1600" b="1"/>
            </a:lvl7pPr>
            <a:lvl8pPr marL="3201040" indent="0">
              <a:buNone/>
              <a:defRPr sz="1600" b="1"/>
            </a:lvl8pPr>
            <a:lvl9pPr marL="3658332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40007" y="2505655"/>
            <a:ext cx="5159130" cy="3685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3807" y="1681552"/>
            <a:ext cx="5184538" cy="824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91" indent="0">
              <a:buNone/>
              <a:defRPr sz="2000" b="1"/>
            </a:lvl2pPr>
            <a:lvl3pPr marL="914583" indent="0">
              <a:buNone/>
              <a:defRPr sz="1800" b="1"/>
            </a:lvl3pPr>
            <a:lvl4pPr marL="1371874" indent="0">
              <a:buNone/>
              <a:defRPr sz="1600" b="1"/>
            </a:lvl4pPr>
            <a:lvl5pPr marL="1829166" indent="0">
              <a:buNone/>
              <a:defRPr sz="1600" b="1"/>
            </a:lvl5pPr>
            <a:lvl6pPr marL="2286457" indent="0">
              <a:buNone/>
              <a:defRPr sz="1600" b="1"/>
            </a:lvl6pPr>
            <a:lvl7pPr marL="2743749" indent="0">
              <a:buNone/>
              <a:defRPr sz="1600" b="1"/>
            </a:lvl7pPr>
            <a:lvl8pPr marL="3201040" indent="0">
              <a:buNone/>
              <a:defRPr sz="1600" b="1"/>
            </a:lvl8pPr>
            <a:lvl9pPr marL="3658332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3807" y="2505655"/>
            <a:ext cx="5184538" cy="3685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82094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7579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20651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0007" y="457306"/>
            <a:ext cx="3933261" cy="1600571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4538" y="987654"/>
            <a:ext cx="6173807" cy="4874754"/>
          </a:xfrm>
        </p:spPr>
        <p:txBody>
          <a:bodyPr/>
          <a:lstStyle>
            <a:lvl1pPr>
              <a:defRPr sz="3201"/>
            </a:lvl1pPr>
            <a:lvl2pPr>
              <a:defRPr sz="2801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40007" y="2057876"/>
            <a:ext cx="3933261" cy="3812471"/>
          </a:xfrm>
        </p:spPr>
        <p:txBody>
          <a:bodyPr/>
          <a:lstStyle>
            <a:lvl1pPr marL="0" indent="0">
              <a:buNone/>
              <a:defRPr sz="1600"/>
            </a:lvl1pPr>
            <a:lvl2pPr marL="457291" indent="0">
              <a:buNone/>
              <a:defRPr sz="1400"/>
            </a:lvl2pPr>
            <a:lvl3pPr marL="914583" indent="0">
              <a:buNone/>
              <a:defRPr sz="1200"/>
            </a:lvl3pPr>
            <a:lvl4pPr marL="1371874" indent="0">
              <a:buNone/>
              <a:defRPr sz="1000"/>
            </a:lvl4pPr>
            <a:lvl5pPr marL="1829166" indent="0">
              <a:buNone/>
              <a:defRPr sz="1000"/>
            </a:lvl5pPr>
            <a:lvl6pPr marL="2286457" indent="0">
              <a:buNone/>
              <a:defRPr sz="1000"/>
            </a:lvl6pPr>
            <a:lvl7pPr marL="2743749" indent="0">
              <a:buNone/>
              <a:defRPr sz="1000"/>
            </a:lvl7pPr>
            <a:lvl8pPr marL="3201040" indent="0">
              <a:buNone/>
              <a:defRPr sz="1000"/>
            </a:lvl8pPr>
            <a:lvl9pPr marL="3658332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2943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0007" y="457306"/>
            <a:ext cx="3933261" cy="1600571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4538" y="987654"/>
            <a:ext cx="6173807" cy="4874754"/>
          </a:xfrm>
        </p:spPr>
        <p:txBody>
          <a:bodyPr/>
          <a:lstStyle>
            <a:lvl1pPr marL="0" indent="0">
              <a:buNone/>
              <a:defRPr sz="3201"/>
            </a:lvl1pPr>
            <a:lvl2pPr marL="457291" indent="0">
              <a:buNone/>
              <a:defRPr sz="2801"/>
            </a:lvl2pPr>
            <a:lvl3pPr marL="914583" indent="0">
              <a:buNone/>
              <a:defRPr sz="2400"/>
            </a:lvl3pPr>
            <a:lvl4pPr marL="1371874" indent="0">
              <a:buNone/>
              <a:defRPr sz="2000"/>
            </a:lvl4pPr>
            <a:lvl5pPr marL="1829166" indent="0">
              <a:buNone/>
              <a:defRPr sz="2000"/>
            </a:lvl5pPr>
            <a:lvl6pPr marL="2286457" indent="0">
              <a:buNone/>
              <a:defRPr sz="2000"/>
            </a:lvl6pPr>
            <a:lvl7pPr marL="2743749" indent="0">
              <a:buNone/>
              <a:defRPr sz="2000"/>
            </a:lvl7pPr>
            <a:lvl8pPr marL="3201040" indent="0">
              <a:buNone/>
              <a:defRPr sz="2000"/>
            </a:lvl8pPr>
            <a:lvl9pPr marL="3658332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40007" y="2057876"/>
            <a:ext cx="3933261" cy="3812471"/>
          </a:xfrm>
        </p:spPr>
        <p:txBody>
          <a:bodyPr/>
          <a:lstStyle>
            <a:lvl1pPr marL="0" indent="0">
              <a:buNone/>
              <a:defRPr sz="1600"/>
            </a:lvl1pPr>
            <a:lvl2pPr marL="457291" indent="0">
              <a:buNone/>
              <a:defRPr sz="1400"/>
            </a:lvl2pPr>
            <a:lvl3pPr marL="914583" indent="0">
              <a:buNone/>
              <a:defRPr sz="1200"/>
            </a:lvl3pPr>
            <a:lvl4pPr marL="1371874" indent="0">
              <a:buNone/>
              <a:defRPr sz="1000"/>
            </a:lvl4pPr>
            <a:lvl5pPr marL="1829166" indent="0">
              <a:buNone/>
              <a:defRPr sz="1000"/>
            </a:lvl5pPr>
            <a:lvl6pPr marL="2286457" indent="0">
              <a:buNone/>
              <a:defRPr sz="1000"/>
            </a:lvl6pPr>
            <a:lvl7pPr marL="2743749" indent="0">
              <a:buNone/>
              <a:defRPr sz="1000"/>
            </a:lvl7pPr>
            <a:lvl8pPr marL="3201040" indent="0">
              <a:buNone/>
              <a:defRPr sz="1000"/>
            </a:lvl8pPr>
            <a:lvl9pPr marL="3658332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822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77118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7172" y="365209"/>
            <a:ext cx="2629585" cy="581318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418" y="365209"/>
            <a:ext cx="7736314" cy="581318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12925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Insert page title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24000" y="1691078"/>
            <a:ext cx="11545200" cy="43920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75798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 noProof="0" dirty="0"/>
              <a:t>Insert page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386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419" y="365210"/>
            <a:ext cx="10518338" cy="1325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419" y="1826048"/>
            <a:ext cx="10518338" cy="4352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418" y="6357822"/>
            <a:ext cx="2743914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0EFEF-2CAD-4A38-B183-5532D8FFC417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9652" y="6357822"/>
            <a:ext cx="4115872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293100" y="6250658"/>
            <a:ext cx="3091219" cy="4001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93DAE-5736-476F-B9D8-B9146396831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32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" name="Rectangle 94"/>
          <p:cNvSpPr/>
          <p:nvPr userDrawn="1"/>
        </p:nvSpPr>
        <p:spPr bwMode="white">
          <a:xfrm>
            <a:off x="324000" y="6250659"/>
            <a:ext cx="11545200" cy="610668"/>
          </a:xfrm>
          <a:prstGeom prst="rect">
            <a:avLst/>
          </a:prstGeom>
          <a:solidFill>
            <a:schemeClr val="tx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TextBox 9"/>
          <p:cNvSpPr txBox="1"/>
          <p:nvPr userDrawn="1"/>
        </p:nvSpPr>
        <p:spPr bwMode="black">
          <a:xfrm>
            <a:off x="11121624" y="6263428"/>
            <a:ext cx="650824" cy="553998"/>
          </a:xfrm>
          <a:prstGeom prst="rect">
            <a:avLst/>
          </a:prstGeom>
          <a:noFill/>
        </p:spPr>
        <p:txBody>
          <a:bodyPr wrap="none" lIns="0" tIns="0" rIns="85730" bIns="0" rtlCol="0">
            <a:spAutoFit/>
          </a:bodyPr>
          <a:lstStyle/>
          <a:p>
            <a:pPr marL="111525" indent="-111525" algn="r">
              <a:buClr>
                <a:schemeClr val="accent2"/>
              </a:buClr>
              <a:buFont typeface="Arial" pitchFamily="34" charset="0"/>
              <a:buNone/>
            </a:pPr>
            <a:fld id="{0BDC132A-5C91-4078-9777-31DA19A62E0A}" type="slidenum">
              <a:rPr lang="en-US" sz="3600" baseline="0" noProof="0" smtClean="0">
                <a:solidFill>
                  <a:schemeClr val="bg1"/>
                </a:solidFill>
              </a:rPr>
              <a:pPr marL="111525" indent="-111525" algn="r">
                <a:buClr>
                  <a:schemeClr val="accent2"/>
                </a:buClr>
                <a:buFont typeface="Arial" pitchFamily="34" charset="0"/>
                <a:buNone/>
              </a:pPr>
              <a:t>‹#›</a:t>
            </a:fld>
            <a:endParaRPr lang="en-US" sz="36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9973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2" r:id="rId12"/>
    <p:sldLayoutId id="2147483794" r:id="rId13"/>
  </p:sldLayoutIdLst>
  <p:hf sldNum="0" hdr="0" ftr="0" dt="0"/>
  <p:txStyles>
    <p:titleStyle>
      <a:lvl1pPr algn="l" defTabSz="914583" rtl="0" eaLnBrk="1" latinLnBrk="0" hangingPunct="1">
        <a:lnSpc>
          <a:spcPct val="90000"/>
        </a:lnSpc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46" indent="-228646" algn="l" defTabSz="91458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1" kern="1200">
          <a:solidFill>
            <a:schemeClr val="tx1"/>
          </a:solidFill>
          <a:latin typeface="+mn-lt"/>
          <a:ea typeface="+mn-ea"/>
          <a:cs typeface="+mn-cs"/>
        </a:defRPr>
      </a:lvl1pPr>
      <a:lvl2pPr marL="685937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229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520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811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103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394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86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977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91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583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874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166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457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749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40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332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F2F56B0-9997-401F-A374-6465B1F70D6F}"/>
              </a:ext>
            </a:extLst>
          </p:cNvPr>
          <p:cNvSpPr/>
          <p:nvPr/>
        </p:nvSpPr>
        <p:spPr>
          <a:xfrm>
            <a:off x="658382" y="580381"/>
            <a:ext cx="10878410" cy="5586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spc="-30" dirty="0">
                <a:latin typeface="Montserrat" pitchFamily="2" charset="-52"/>
                <a:cs typeface="Times New Roman" panose="02020603050405020304" pitchFamily="18" charset="0"/>
              </a:rPr>
              <a:t>МИНИСТЕРСТВО ОБРАЗОВАНИЯ РЕСПУБЛИКИ БЕЛАРУСЬ</a:t>
            </a:r>
            <a:br>
              <a:rPr lang="en-US" sz="2400" spc="-30" dirty="0">
                <a:latin typeface="Montserrat" pitchFamily="2" charset="-52"/>
                <a:cs typeface="Times New Roman" panose="02020603050405020304" pitchFamily="18" charset="0"/>
              </a:rPr>
            </a:br>
            <a:r>
              <a:rPr lang="ru-RU" sz="2400" spc="-30" dirty="0">
                <a:latin typeface="Montserrat" pitchFamily="2" charset="-52"/>
                <a:cs typeface="Times New Roman" panose="02020603050405020304" pitchFamily="18" charset="0"/>
              </a:rPr>
              <a:t>Учреждения образования «БЕЛОРУССКИЙ ГОСУДАРСТВЕННЫЙ </a:t>
            </a:r>
            <a:br>
              <a:rPr lang="en-US" sz="2400" spc="-30" dirty="0">
                <a:latin typeface="Montserrat" pitchFamily="2" charset="-52"/>
                <a:cs typeface="Times New Roman" panose="02020603050405020304" pitchFamily="18" charset="0"/>
              </a:rPr>
            </a:br>
            <a:r>
              <a:rPr lang="ru-RU" sz="2400" spc="-30" dirty="0">
                <a:latin typeface="Montserrat" pitchFamily="2" charset="-52"/>
                <a:cs typeface="Times New Roman" panose="02020603050405020304" pitchFamily="18" charset="0"/>
              </a:rPr>
              <a:t>ТЕХНОЛОГИЧЕСКИЙ УНИВЕРСИТЕТ»</a:t>
            </a:r>
            <a:br>
              <a:rPr lang="ru-RU" sz="2400" spc="-30" dirty="0">
                <a:latin typeface="Montserrat" pitchFamily="2" charset="-52"/>
                <a:cs typeface="Times New Roman" panose="02020603050405020304" pitchFamily="18" charset="0"/>
              </a:rPr>
            </a:br>
            <a:br>
              <a:rPr lang="ru-RU" sz="2400" spc="-30" dirty="0">
                <a:latin typeface="Montserrat" pitchFamily="2" charset="-52"/>
                <a:cs typeface="Times New Roman" panose="02020603050405020304" pitchFamily="18" charset="0"/>
              </a:rPr>
            </a:br>
            <a:r>
              <a:rPr lang="ru-RU" altLang="ru-RU" sz="2400" spc="-30" dirty="0">
                <a:latin typeface="Montserrat" pitchFamily="2" charset="-52"/>
                <a:cs typeface="Times New Roman" panose="02020603050405020304" pitchFamily="18" charset="0"/>
              </a:rPr>
              <a:t>Факультет информационных технологий</a:t>
            </a:r>
            <a:br>
              <a:rPr lang="ru-RU" altLang="ru-RU" sz="2400" spc="-30" dirty="0">
                <a:latin typeface="Montserrat" pitchFamily="2" charset="-52"/>
                <a:cs typeface="Times New Roman" panose="02020603050405020304" pitchFamily="18" charset="0"/>
              </a:rPr>
            </a:br>
            <a:r>
              <a:rPr lang="ru-RU" altLang="ru-RU" sz="2400" spc="-30" dirty="0">
                <a:latin typeface="Montserrat" pitchFamily="2" charset="-52"/>
                <a:cs typeface="Times New Roman" panose="02020603050405020304" pitchFamily="18" charset="0"/>
              </a:rPr>
              <a:t>Кафедра программной инженерии</a:t>
            </a:r>
            <a:br>
              <a:rPr lang="ru-RU" altLang="ru-RU" sz="2800" spc="-30" dirty="0">
                <a:latin typeface="Montserrat" pitchFamily="2" charset="-52"/>
                <a:cs typeface="Times New Roman" panose="02020603050405020304" pitchFamily="18" charset="0"/>
              </a:rPr>
            </a:br>
            <a:br>
              <a:rPr lang="ru-RU" sz="2800" b="1" spc="-30" dirty="0">
                <a:latin typeface="Montserrat" pitchFamily="2" charset="-52"/>
                <a:cs typeface="Times New Roman" panose="02020603050405020304" pitchFamily="18" charset="0"/>
              </a:rPr>
            </a:br>
            <a:r>
              <a:rPr lang="ru-RU" sz="2800" b="1" spc="-30" dirty="0">
                <a:latin typeface="Montserrat" pitchFamily="2" charset="-52"/>
                <a:cs typeface="Times New Roman" panose="02020603050405020304" pitchFamily="18" charset="0"/>
              </a:rPr>
              <a:t>Тема дипломного проекта:</a:t>
            </a:r>
            <a:br>
              <a:rPr lang="ru-RU" sz="2800" spc="-30" dirty="0">
                <a:latin typeface="Montserrat" pitchFamily="2" charset="-52"/>
                <a:cs typeface="Times New Roman" panose="02020603050405020304" pitchFamily="18" charset="0"/>
              </a:rPr>
            </a:br>
            <a:r>
              <a:rPr lang="ru-RU" sz="2800" spc="-30" dirty="0">
                <a:latin typeface="Montserrat" pitchFamily="2" charset="-52"/>
                <a:cs typeface="Times New Roman" panose="02020603050405020304" pitchFamily="18" charset="0"/>
              </a:rPr>
              <a:t>«Веб-приложение «Гитарный блокнот</a:t>
            </a:r>
            <a:r>
              <a:rPr lang="en-US" sz="2800" spc="-30" dirty="0">
                <a:latin typeface="Montserrat" pitchFamily="2" charset="-52"/>
                <a:cs typeface="Times New Roman" panose="02020603050405020304" pitchFamily="18" charset="0"/>
              </a:rPr>
              <a:t>»</a:t>
            </a:r>
            <a:r>
              <a:rPr lang="ru-RU" sz="2800" spc="-30" dirty="0">
                <a:latin typeface="Montserrat" pitchFamily="2" charset="-52"/>
                <a:cs typeface="Times New Roman" panose="02020603050405020304" pitchFamily="18" charset="0"/>
              </a:rPr>
              <a:t>»</a:t>
            </a:r>
            <a:br>
              <a:rPr lang="en-US" sz="2800" spc="-30" dirty="0">
                <a:latin typeface="Montserrat" pitchFamily="2" charset="-52"/>
                <a:cs typeface="Times New Roman" panose="02020603050405020304" pitchFamily="18" charset="0"/>
              </a:rPr>
            </a:br>
            <a:br>
              <a:rPr lang="en-US" sz="2800" spc="-30" dirty="0">
                <a:latin typeface="Montserrat" pitchFamily="2" charset="-52"/>
                <a:cs typeface="Times New Roman" panose="02020603050405020304" pitchFamily="18" charset="0"/>
              </a:rPr>
            </a:br>
            <a:r>
              <a:rPr lang="ru-RU" sz="2800" spc="-30" dirty="0">
                <a:latin typeface="Montserrat" pitchFamily="2" charset="-52"/>
                <a:cs typeface="Times New Roman" panose="02020603050405020304" pitchFamily="18" charset="0"/>
              </a:rPr>
              <a:t>	                       </a:t>
            </a:r>
            <a:r>
              <a:rPr lang="ru-RU" sz="2400" spc="-30" dirty="0">
                <a:latin typeface="Montserrat" pitchFamily="2" charset="-52"/>
                <a:cs typeface="Times New Roman" panose="02020603050405020304" pitchFamily="18" charset="0"/>
              </a:rPr>
              <a:t>Дипломник: Селицкий Николай Евгеньевич</a:t>
            </a:r>
            <a:br>
              <a:rPr lang="ru-RU" sz="2400" spc="-30" dirty="0">
                <a:latin typeface="Montserrat" pitchFamily="2" charset="-52"/>
                <a:cs typeface="Times New Roman" panose="02020603050405020304" pitchFamily="18" charset="0"/>
              </a:rPr>
            </a:br>
            <a:r>
              <a:rPr lang="ru-RU" sz="2400" spc="-30" dirty="0">
                <a:latin typeface="Montserrat" pitchFamily="2" charset="-52"/>
                <a:cs typeface="Times New Roman" panose="02020603050405020304" pitchFamily="18" charset="0"/>
              </a:rPr>
              <a:t>		            Руководитель:    </a:t>
            </a:r>
            <a:r>
              <a:rPr lang="ru-RU" sz="2400" spc="-30" dirty="0" err="1">
                <a:latin typeface="Montserrat" pitchFamily="2" charset="-52"/>
                <a:cs typeface="Times New Roman" panose="02020603050405020304" pitchFamily="18" charset="0"/>
              </a:rPr>
              <a:t>ассис</a:t>
            </a:r>
            <a:r>
              <a:rPr lang="ru-RU" sz="2400" spc="-30" dirty="0">
                <a:latin typeface="Montserrat" pitchFamily="2" charset="-52"/>
                <a:cs typeface="Times New Roman" panose="02020603050405020304" pitchFamily="18" charset="0"/>
              </a:rPr>
              <a:t>. </a:t>
            </a:r>
            <a:r>
              <a:rPr lang="ru-RU" sz="2400" spc="-30" dirty="0" err="1">
                <a:latin typeface="Montserrat" pitchFamily="2" charset="-52"/>
                <a:cs typeface="Times New Roman" panose="02020603050405020304" pitchFamily="18" charset="0"/>
              </a:rPr>
              <a:t>Харланович</a:t>
            </a:r>
            <a:r>
              <a:rPr lang="ru-RU" sz="2400" spc="-30" dirty="0">
                <a:latin typeface="Montserrat" pitchFamily="2" charset="-52"/>
                <a:cs typeface="Times New Roman" panose="02020603050405020304" pitchFamily="18" charset="0"/>
              </a:rPr>
              <a:t> Анастасия Владимировна</a:t>
            </a:r>
            <a:r>
              <a:rPr lang="ru-RU" sz="2400" spc="-20" dirty="0">
                <a:latin typeface="Montserrat" pitchFamily="2" charset="-52"/>
                <a:cs typeface="Times New Roman" panose="02020603050405020304" pitchFamily="18" charset="0"/>
              </a:rPr>
              <a:t>			</a:t>
            </a:r>
            <a:r>
              <a:rPr lang="ru-RU" sz="2800" spc="-20" dirty="0">
                <a:latin typeface="Montserrat" pitchFamily="2" charset="-52"/>
                <a:cs typeface="Times New Roman" panose="02020603050405020304" pitchFamily="18" charset="0"/>
              </a:rPr>
              <a:t>       </a:t>
            </a:r>
            <a:br>
              <a:rPr lang="ru-RU" sz="2800" spc="-20" dirty="0">
                <a:latin typeface="Montserrat" pitchFamily="2" charset="-52"/>
                <a:cs typeface="Times New Roman" panose="02020603050405020304" pitchFamily="18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515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14360" y="382523"/>
            <a:ext cx="3642397" cy="649707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Актуальность</a:t>
            </a:r>
            <a:endParaRPr lang="en-US" sz="2800" b="1" dirty="0">
              <a:solidFill>
                <a:schemeClr val="bg2">
                  <a:lumMod val="50000"/>
                </a:schemeClr>
              </a:solidFill>
              <a:latin typeface="Montserrat" pitchFamily="2" charset="-52"/>
              <a:cs typeface="Arial" panose="020B0604020202020204" pitchFamily="34" charset="0"/>
            </a:endParaRPr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6387729" y="1453689"/>
            <a:ext cx="5566724" cy="4370832"/>
          </a:xfrm>
          <a:prstGeom prst="rect">
            <a:avLst/>
          </a:prstGeom>
        </p:spPr>
        <p:txBody>
          <a:bodyPr>
            <a:noAutofit/>
          </a:bodyPr>
          <a:lstStyle>
            <a:lvl1pPr marL="228646" indent="-228646" algn="l" defTabSz="91458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93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229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520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811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103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394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86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97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  <a:buSzPct val="100000"/>
              <a:buBlip>
                <a:blip r:embed="rId2"/>
              </a:buBlip>
            </a:pPr>
            <a:r>
              <a:rPr lang="ru-RU" sz="2200" spc="-20" dirty="0">
                <a:latin typeface="Montserrat" pitchFamily="2" charset="-52"/>
              </a:rPr>
              <a:t>рост числа гитаристов-самоучек</a:t>
            </a:r>
          </a:p>
          <a:p>
            <a:pPr>
              <a:spcBef>
                <a:spcPts val="0"/>
              </a:spcBef>
              <a:spcAft>
                <a:spcPts val="1200"/>
              </a:spcAft>
              <a:buSzPct val="100000"/>
              <a:buBlip>
                <a:blip r:embed="rId2"/>
              </a:buBlip>
            </a:pPr>
            <a:r>
              <a:rPr lang="ru-RU" sz="2200" spc="-20" dirty="0">
                <a:latin typeface="Montserrat" pitchFamily="2" charset="-52"/>
              </a:rPr>
              <a:t>необходимость в хранении песен в доступном месте</a:t>
            </a:r>
          </a:p>
          <a:p>
            <a:pPr>
              <a:spcBef>
                <a:spcPts val="0"/>
              </a:spcBef>
              <a:spcAft>
                <a:spcPts val="1200"/>
              </a:spcAft>
              <a:buSzPct val="100000"/>
              <a:buBlip>
                <a:blip r:embed="rId2"/>
              </a:buBlip>
            </a:pPr>
            <a:r>
              <a:rPr lang="ru-RU" sz="2200" spc="-20" dirty="0">
                <a:latin typeface="Montserrat" pitchFamily="2" charset="-52"/>
              </a:rPr>
              <a:t>растущее количество новых песен, которые гитаристы ищут для игры</a:t>
            </a:r>
          </a:p>
          <a:p>
            <a:pPr>
              <a:spcBef>
                <a:spcPts val="0"/>
              </a:spcBef>
              <a:spcAft>
                <a:spcPts val="1200"/>
              </a:spcAft>
              <a:buSzPct val="100000"/>
              <a:buBlip>
                <a:blip r:embed="rId2"/>
              </a:buBlip>
            </a:pPr>
            <a:r>
              <a:rPr lang="ru-RU" sz="2200" spc="-20" dirty="0">
                <a:latin typeface="Montserrat" pitchFamily="2" charset="-52"/>
              </a:rPr>
              <a:t>большое количество опытных гитаристов любящих делиться своим опытом</a:t>
            </a:r>
          </a:p>
          <a:p>
            <a:pPr>
              <a:spcBef>
                <a:spcPts val="0"/>
              </a:spcBef>
              <a:spcAft>
                <a:spcPts val="1200"/>
              </a:spcAft>
              <a:buSzPct val="100000"/>
              <a:buBlip>
                <a:blip r:embed="rId2"/>
              </a:buBlip>
            </a:pPr>
            <a:r>
              <a:rPr lang="ru-RU" sz="2200" spc="-20" dirty="0">
                <a:latin typeface="Montserrat" pitchFamily="2" charset="-52"/>
              </a:rPr>
              <a:t>потребность в централизованной системе для работы со своими и чужими песнями </a:t>
            </a:r>
            <a:endParaRPr lang="ru-RU" sz="2200" spc="-20" dirty="0">
              <a:latin typeface="Montserrat" pitchFamily="2" charset="-52"/>
              <a:cs typeface="Times New Roman" panose="02020603050405020304" pitchFamily="18" charset="0"/>
            </a:endParaRP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A0A0258F-1863-4972-BDF5-ABED86460797}"/>
              </a:ext>
            </a:extLst>
          </p:cNvPr>
          <p:cNvSpPr txBox="1">
            <a:spLocks/>
          </p:cNvSpPr>
          <p:nvPr/>
        </p:nvSpPr>
        <p:spPr>
          <a:xfrm>
            <a:off x="1796160" y="364297"/>
            <a:ext cx="3642397" cy="6497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5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Приложение</a:t>
            </a:r>
            <a:endParaRPr lang="en-US" sz="2800" b="1" dirty="0">
              <a:solidFill>
                <a:schemeClr val="bg2">
                  <a:lumMod val="50000"/>
                </a:schemeClr>
              </a:solidFill>
              <a:latin typeface="Montserrat" pitchFamily="2" charset="-52"/>
              <a:cs typeface="Arial" panose="020B0604020202020204" pitchFamily="34" charset="0"/>
            </a:endParaRP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5C7965FB-6879-4680-B166-870E012A7270}"/>
              </a:ext>
            </a:extLst>
          </p:cNvPr>
          <p:cNvSpPr txBox="1">
            <a:spLocks/>
          </p:cNvSpPr>
          <p:nvPr/>
        </p:nvSpPr>
        <p:spPr>
          <a:xfrm>
            <a:off x="387822" y="1453689"/>
            <a:ext cx="5137775" cy="4370832"/>
          </a:xfrm>
          <a:prstGeom prst="rect">
            <a:avLst/>
          </a:prstGeom>
        </p:spPr>
        <p:txBody>
          <a:bodyPr>
            <a:noAutofit/>
          </a:bodyPr>
          <a:lstStyle>
            <a:lvl1pPr marL="228646" indent="-228646" algn="l" defTabSz="91458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93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229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520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811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103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394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86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97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r>
              <a:rPr lang="ru-RU" sz="2200" spc="-20" dirty="0">
                <a:latin typeface="Montserrat" pitchFamily="2" charset="-52"/>
              </a:rPr>
              <a:t>«Гитарный блокнот» – это программное обеспечение, предназначенное для создания, систематизации и совместного использования музыкальных материалов для гитаристов. Оно предоставляет пользователям единую цифровую среду для работы с аккордами, паттернами (боем, перебором), а также объединять песни в альбомы.</a:t>
            </a:r>
            <a:endParaRPr lang="en-US" sz="2200" spc="-2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endParaRPr lang="ru-RU" sz="2200" spc="-20" dirty="0">
              <a:latin typeface="Montserrat" pitchFamily="2" charset="-52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5A6AE9A0-94CE-46D9-B1E4-63233926999D}"/>
              </a:ext>
            </a:extLst>
          </p:cNvPr>
          <p:cNvSpPr/>
          <p:nvPr/>
        </p:nvSpPr>
        <p:spPr>
          <a:xfrm>
            <a:off x="5612638" y="382523"/>
            <a:ext cx="27432" cy="5486400"/>
          </a:xfrm>
          <a:prstGeom prst="roundRect">
            <a:avLst/>
          </a:prstGeom>
          <a:solidFill>
            <a:srgbClr val="003283"/>
          </a:solidFill>
          <a:ln>
            <a:solidFill>
              <a:srgbClr val="003283"/>
            </a:solidFill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958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3459" y="192889"/>
            <a:ext cx="10518338" cy="843432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Цель</a:t>
            </a:r>
            <a:r>
              <a:rPr lang="ru-RU" sz="2800" dirty="0">
                <a:latin typeface="Montserrat" pitchFamily="2" charset="-52"/>
              </a:rPr>
              <a:t> </a:t>
            </a:r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дипломного проекта</a:t>
            </a:r>
            <a:endParaRPr lang="en-US" sz="2800" b="1" dirty="0">
              <a:solidFill>
                <a:schemeClr val="bg2">
                  <a:lumMod val="50000"/>
                </a:schemeClr>
              </a:solidFill>
              <a:latin typeface="Montserrat" pitchFamily="2" charset="-52"/>
              <a:cs typeface="Arial" panose="020B060402020202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523459" y="1245524"/>
            <a:ext cx="11272301" cy="138351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dirty="0"/>
              <a:t>Целью работы является разработка веб-приложения для создания, хранения и совместного использования гитарных партий, аккордов, паттернов боя и альбомов. </a:t>
            </a:r>
            <a:endParaRPr lang="en-US" sz="2200" spc="-10" dirty="0">
              <a:latin typeface="Montserrat" pitchFamily="2" charset="-52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625059" y="2838242"/>
            <a:ext cx="10518338" cy="901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5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Задачи дипломного проекта</a:t>
            </a:r>
            <a:endParaRPr lang="en-US" sz="2800" b="1" dirty="0">
              <a:solidFill>
                <a:schemeClr val="bg2">
                  <a:lumMod val="50000"/>
                </a:schemeClr>
              </a:solidFill>
              <a:latin typeface="Montserrat" pitchFamily="2" charset="-52"/>
              <a:cs typeface="Arial" panose="020B0604020202020204" pitchFamily="34" charset="0"/>
            </a:endParaRPr>
          </a:p>
        </p:txBody>
      </p:sp>
      <p:sp>
        <p:nvSpPr>
          <p:cNvPr id="7" name="Текст 2"/>
          <p:cNvSpPr txBox="1">
            <a:spLocks/>
          </p:cNvSpPr>
          <p:nvPr/>
        </p:nvSpPr>
        <p:spPr>
          <a:xfrm>
            <a:off x="523459" y="3687375"/>
            <a:ext cx="11356756" cy="23700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46" indent="-228646" algn="l" defTabSz="91458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93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229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520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811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103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394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86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97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SzPct val="100000"/>
              <a:buBlip>
                <a:blip r:embed="rId2"/>
              </a:buBlip>
            </a:pPr>
            <a:r>
              <a:rPr lang="ru-RU" sz="2200" dirty="0">
                <a:latin typeface="Montserrat" pitchFamily="2" charset="-52"/>
              </a:rPr>
              <a:t>произвести аналитический обзор аналогичных решений;</a:t>
            </a:r>
          </a:p>
          <a:p>
            <a:pPr>
              <a:spcBef>
                <a:spcPts val="0"/>
              </a:spcBef>
              <a:spcAft>
                <a:spcPts val="600"/>
              </a:spcAft>
              <a:buSzPct val="100000"/>
              <a:buBlip>
                <a:blip r:embed="rId2"/>
              </a:buBlip>
            </a:pPr>
            <a:r>
              <a:rPr lang="ru-RU" sz="2200" dirty="0">
                <a:latin typeface="Montserrat" pitchFamily="2" charset="-52"/>
              </a:rPr>
              <a:t>спроектировать архитектуру приложения и базы данных;</a:t>
            </a:r>
          </a:p>
          <a:p>
            <a:pPr>
              <a:spcBef>
                <a:spcPts val="0"/>
              </a:spcBef>
              <a:spcAft>
                <a:spcPts val="600"/>
              </a:spcAft>
              <a:buSzPct val="100000"/>
              <a:buBlip>
                <a:blip r:embed="rId2"/>
              </a:buBlip>
            </a:pPr>
            <a:r>
              <a:rPr lang="ru-RU" sz="2200" dirty="0">
                <a:latin typeface="Montserrat" pitchFamily="2" charset="-52"/>
              </a:rPr>
              <a:t>реализовать серверную и клиентскую часть приложения;</a:t>
            </a:r>
          </a:p>
          <a:p>
            <a:pPr>
              <a:spcBef>
                <a:spcPts val="0"/>
              </a:spcBef>
              <a:spcAft>
                <a:spcPts val="600"/>
              </a:spcAft>
              <a:buSzPct val="100000"/>
              <a:buBlip>
                <a:blip r:embed="rId2"/>
              </a:buBlip>
            </a:pPr>
            <a:r>
              <a:rPr lang="ru-RU" sz="2200" dirty="0">
                <a:latin typeface="Montserrat" pitchFamily="2" charset="-52"/>
              </a:rPr>
              <a:t>произвести тестирование работоспособности приложения;</a:t>
            </a:r>
          </a:p>
          <a:p>
            <a:pPr>
              <a:spcBef>
                <a:spcPts val="0"/>
              </a:spcBef>
              <a:spcAft>
                <a:spcPts val="600"/>
              </a:spcAft>
              <a:buSzPct val="100000"/>
              <a:buBlip>
                <a:blip r:embed="rId2"/>
              </a:buBlip>
            </a:pPr>
            <a:r>
              <a:rPr lang="ru-RU" sz="2200" dirty="0">
                <a:latin typeface="Montserrat" pitchFamily="2" charset="-52"/>
              </a:rPr>
              <a:t>разработать руководство пользователя;  </a:t>
            </a:r>
          </a:p>
          <a:p>
            <a:pPr>
              <a:spcBef>
                <a:spcPts val="0"/>
              </a:spcBef>
              <a:spcAft>
                <a:spcPts val="600"/>
              </a:spcAft>
              <a:buSzPct val="100000"/>
              <a:buBlip>
                <a:blip r:embed="rId2"/>
              </a:buBlip>
            </a:pPr>
            <a:r>
              <a:rPr lang="ru-RU" sz="2200" dirty="0">
                <a:latin typeface="Montserrat" pitchFamily="2" charset="-52"/>
              </a:rPr>
              <a:t>выполнить технико-экономическое обоснование проекта.</a:t>
            </a:r>
            <a:endParaRPr lang="en-US" sz="2200" dirty="0">
              <a:latin typeface="Montserrat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875611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510987" y="2059333"/>
            <a:ext cx="7338997" cy="41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endParaRPr lang="en-US" sz="1800" dirty="0">
              <a:effectLst/>
              <a:latin typeface="Montserrat" pitchFamily="2" charset="-52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34295" y="287562"/>
            <a:ext cx="44358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Прототипы и аналоги</a:t>
            </a:r>
            <a:endParaRPr lang="ru-RU" sz="2800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673203"/>
              </p:ext>
            </p:extLst>
          </p:nvPr>
        </p:nvGraphicFramePr>
        <p:xfrm>
          <a:off x="311394" y="810782"/>
          <a:ext cx="11464608" cy="520185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029012">
                  <a:extLst>
                    <a:ext uri="{9D8B030D-6E8A-4147-A177-3AD203B41FA5}">
                      <a16:colId xmlns:a16="http://schemas.microsoft.com/office/drawing/2014/main" val="1234055935"/>
                    </a:ext>
                  </a:extLst>
                </a:gridCol>
                <a:gridCol w="2337782">
                  <a:extLst>
                    <a:ext uri="{9D8B030D-6E8A-4147-A177-3AD203B41FA5}">
                      <a16:colId xmlns:a16="http://schemas.microsoft.com/office/drawing/2014/main" val="1389621893"/>
                    </a:ext>
                  </a:extLst>
                </a:gridCol>
                <a:gridCol w="790514">
                  <a:extLst>
                    <a:ext uri="{9D8B030D-6E8A-4147-A177-3AD203B41FA5}">
                      <a16:colId xmlns:a16="http://schemas.microsoft.com/office/drawing/2014/main" val="1800386976"/>
                    </a:ext>
                  </a:extLst>
                </a:gridCol>
                <a:gridCol w="820010">
                  <a:extLst>
                    <a:ext uri="{9D8B030D-6E8A-4147-A177-3AD203B41FA5}">
                      <a16:colId xmlns:a16="http://schemas.microsoft.com/office/drawing/2014/main" val="4250081446"/>
                    </a:ext>
                  </a:extLst>
                </a:gridCol>
                <a:gridCol w="2625213">
                  <a:extLst>
                    <a:ext uri="{9D8B030D-6E8A-4147-A177-3AD203B41FA5}">
                      <a16:colId xmlns:a16="http://schemas.microsoft.com/office/drawing/2014/main" val="781952316"/>
                    </a:ext>
                  </a:extLst>
                </a:gridCol>
                <a:gridCol w="2862077">
                  <a:extLst>
                    <a:ext uri="{9D8B030D-6E8A-4147-A177-3AD203B41FA5}">
                      <a16:colId xmlns:a16="http://schemas.microsoft.com/office/drawing/2014/main" val="282109689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indent="0" algn="ctr" defTabSz="914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200" b="0" kern="1200" dirty="0">
                          <a:solidFill>
                            <a:schemeClr val="tx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Веб-приложение «</a:t>
                      </a:r>
                      <a:r>
                        <a:rPr lang="ru-RU" sz="2200" b="0" i="1" kern="1200" dirty="0" err="1">
                          <a:solidFill>
                            <a:schemeClr val="tx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Ultimate</a:t>
                      </a:r>
                      <a:r>
                        <a:rPr lang="ru-RU" sz="2200" b="0" i="1" kern="1200" dirty="0">
                          <a:solidFill>
                            <a:schemeClr val="tx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2200" b="0" i="1" kern="1200" dirty="0" err="1">
                          <a:solidFill>
                            <a:schemeClr val="tx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Guitar</a:t>
                      </a:r>
                      <a:r>
                        <a:rPr lang="ru-RU" sz="2200" b="0" dirty="0">
                          <a:solidFill>
                            <a:schemeClr val="tx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»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Montserrat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200" b="0" kern="1200" dirty="0">
                        <a:solidFill>
                          <a:schemeClr val="tx1"/>
                        </a:solidFill>
                        <a:latin typeface="Montserrat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200" b="0" kern="1200" dirty="0">
                          <a:solidFill>
                            <a:schemeClr val="tx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Веб-приложение «</a:t>
                      </a:r>
                      <a:r>
                        <a:rPr lang="ru-RU" sz="2200" b="0" i="1" kern="1200" dirty="0" err="1">
                          <a:solidFill>
                            <a:schemeClr val="tx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Songsterr</a:t>
                      </a:r>
                      <a:r>
                        <a:rPr lang="ru-RU" sz="2200" b="0" dirty="0">
                          <a:solidFill>
                            <a:schemeClr val="tx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»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Montserrat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427671"/>
                  </a:ext>
                </a:extLst>
              </a:tr>
              <a:tr h="2280850">
                <a:tc gridSpan="2">
                  <a:txBody>
                    <a:bodyPr/>
                    <a:lstStyle/>
                    <a:p>
                      <a:endParaRPr lang="ru-RU" sz="1600" dirty="0"/>
                    </a:p>
                    <a:p>
                      <a:endParaRPr lang="ru-RU" sz="1600" dirty="0"/>
                    </a:p>
                    <a:p>
                      <a:endParaRPr lang="ru-RU" sz="1600" dirty="0"/>
                    </a:p>
                    <a:p>
                      <a:endParaRPr lang="ru-RU" sz="1600" dirty="0"/>
                    </a:p>
                    <a:p>
                      <a:endParaRPr lang="ru-RU" sz="1600" dirty="0"/>
                    </a:p>
                    <a:p>
                      <a:endParaRPr lang="ru-RU" sz="1600" dirty="0"/>
                    </a:p>
                    <a:p>
                      <a:endParaRPr lang="ru-RU" sz="1600" dirty="0"/>
                    </a:p>
                    <a:p>
                      <a:endParaRPr lang="ru-RU" sz="1600" dirty="0"/>
                    </a:p>
                    <a:p>
                      <a:endParaRPr lang="ru-RU" sz="16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ru-RU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513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dirty="0">
                          <a:latin typeface="Montserrat" pitchFamily="2" charset="-52"/>
                        </a:rPr>
                        <a:t>      </a:t>
                      </a:r>
                      <a:r>
                        <a:rPr lang="ru-RU" sz="1600" u="sng" dirty="0">
                          <a:latin typeface="Montserrat" pitchFamily="2" charset="-52"/>
                        </a:rPr>
                        <a:t>Плюсы</a:t>
                      </a:r>
                      <a:endParaRPr lang="ru-RU" sz="1800" u="sng" dirty="0">
                        <a:latin typeface="Montserrat" pitchFamily="2" charset="-52"/>
                      </a:endParaRPr>
                    </a:p>
                    <a:p>
                      <a:pPr marL="0" indent="0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ru-RU" sz="1800" dirty="0">
                        <a:latin typeface="Montserrat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простота использования</a:t>
                      </a:r>
                    </a:p>
                    <a:p>
                      <a:pPr marL="285750" indent="-285750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удобная возможность создавать наборы аккордов </a:t>
                      </a:r>
                    </a:p>
                    <a:p>
                      <a:pPr marL="285750" indent="-285750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удобная привязка аккорда к тексту 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Montserrat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dirty="0">
                          <a:latin typeface="Montserrat" pitchFamily="2" charset="-52"/>
                        </a:rPr>
                        <a:t>    </a:t>
                      </a:r>
                      <a:r>
                        <a:rPr lang="ru-RU" sz="1600" u="sng" dirty="0">
                          <a:latin typeface="Montserrat" pitchFamily="2" charset="-52"/>
                        </a:rPr>
                        <a:t>Минусы</a:t>
                      </a:r>
                      <a:endParaRPr lang="ru-RU" sz="1800" u="sng" dirty="0">
                        <a:latin typeface="Montserrat" pitchFamily="2" charset="-52"/>
                      </a:endParaRPr>
                    </a:p>
                    <a:p>
                      <a:endParaRPr lang="ru-RU" dirty="0"/>
                    </a:p>
                    <a:p>
                      <a:pPr marL="285750" indent="-285750" algn="l" defTabSz="914583" rtl="0" eaLnBrk="1" latinLnBrk="0" hangingPunct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неудобное отображение паттерна игры</a:t>
                      </a:r>
                    </a:p>
                    <a:p>
                      <a:pPr marL="285750" indent="-285750" algn="l" defTabSz="914583" rtl="0" eaLnBrk="1" latinLnBrk="0" hangingPunct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нет возможности создавать свою песню</a:t>
                      </a:r>
                    </a:p>
                    <a:p>
                      <a:endParaRPr lang="ru-RU" dirty="0"/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ru-RU" sz="1400" kern="1200" noProof="0" dirty="0">
                        <a:solidFill>
                          <a:schemeClr val="dk1"/>
                        </a:solidFill>
                        <a:latin typeface="Montserrat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effectLst/>
                        <a:latin typeface="Montserrat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u="sng" kern="120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Плюсы</a:t>
                      </a:r>
                    </a:p>
                    <a:p>
                      <a:pPr marL="0" indent="0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ru-RU" sz="2400">
                        <a:latin typeface="Montserrat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kern="1200">
                          <a:solidFill>
                            <a:schemeClr val="dk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удобный интерфейс отображения паттерном игры</a:t>
                      </a:r>
                    </a:p>
                    <a:p>
                      <a:pPr marL="285750" indent="-285750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kern="1200">
                          <a:solidFill>
                            <a:schemeClr val="dk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есть возможность выбирать разные паттерны игры </a:t>
                      </a:r>
                    </a:p>
                    <a:p>
                      <a:pPr marL="285750" indent="-285750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kern="1200">
                          <a:solidFill>
                            <a:schemeClr val="dk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есть возможность прослушивать песни 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Montserrat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>
                          <a:latin typeface="Montserrat" pitchFamily="2" charset="-52"/>
                        </a:rPr>
                        <a:t> </a:t>
                      </a:r>
                      <a:r>
                        <a:rPr lang="ru-RU" sz="1600" u="sng" kern="120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Минусы</a:t>
                      </a:r>
                    </a:p>
                    <a:p>
                      <a:endParaRPr lang="ru-RU" sz="1400"/>
                    </a:p>
                    <a:p>
                      <a:pPr marL="285750" indent="-285750" algn="l" defTabSz="914583" rtl="0" eaLnBrk="1" latinLnBrk="0" hangingPunct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kern="1200">
                          <a:solidFill>
                            <a:schemeClr val="dk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плохая оптимизация</a:t>
                      </a:r>
                    </a:p>
                    <a:p>
                      <a:pPr marL="285750" indent="-285750" algn="l" defTabSz="914583" rtl="0" eaLnBrk="1" latinLnBrk="0" hangingPunct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kern="1200">
                          <a:solidFill>
                            <a:schemeClr val="dk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нет возможности сохранять песни в альбомы </a:t>
                      </a:r>
                    </a:p>
                    <a:p>
                      <a:pPr marL="285750" indent="-285750" algn="l" defTabSz="914583" rtl="0" eaLnBrk="1" latinLnBrk="0" hangingPunct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kern="1200" noProof="0">
                          <a:solidFill>
                            <a:schemeClr val="dk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Нет избранного</a:t>
                      </a:r>
                      <a:endParaRPr lang="ru-RU" sz="1400" kern="1200" noProof="0" dirty="0">
                        <a:solidFill>
                          <a:schemeClr val="dk1"/>
                        </a:solidFill>
                        <a:latin typeface="Montserrat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042943"/>
                  </a:ext>
                </a:extLst>
              </a:tr>
            </a:tbl>
          </a:graphicData>
        </a:graphic>
      </p:graphicFrame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4BEBBB0-9BDE-4A62-8DBA-F8DD1C6FF33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21286" y="1483865"/>
            <a:ext cx="4093119" cy="156181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9D19859-561F-4C0D-A08B-3FF1766BAFF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248644" y="1483865"/>
            <a:ext cx="5082138" cy="156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804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4296" y="115513"/>
            <a:ext cx="10518338" cy="818127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Функциональные возможности приложения</a:t>
            </a:r>
            <a:endParaRPr lang="en-US" sz="2800" b="1" dirty="0">
              <a:solidFill>
                <a:schemeClr val="bg2">
                  <a:lumMod val="50000"/>
                </a:schemeClr>
              </a:solidFill>
              <a:latin typeface="Montserrat" pitchFamily="2" charset="-52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201204" y="1942224"/>
            <a:ext cx="4209357" cy="2561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46" indent="-228646" defTabSz="914583">
              <a:lnSpc>
                <a:spcPct val="90000"/>
              </a:lnSpc>
              <a:spcAft>
                <a:spcPts val="1000"/>
              </a:spcAft>
              <a:buSzPct val="100000"/>
              <a:buBlip>
                <a:blip r:embed="rId2"/>
              </a:buBlip>
              <a:defRPr/>
            </a:pPr>
            <a:r>
              <a:rPr lang="ru-RU" sz="2200" b="1" dirty="0">
                <a:latin typeface="Montserrat" pitchFamily="2" charset="-52"/>
              </a:rPr>
              <a:t>4</a:t>
            </a:r>
            <a:r>
              <a:rPr lang="ru-RU" sz="2200" dirty="0">
                <a:latin typeface="Montserrat" pitchFamily="2" charset="-52"/>
              </a:rPr>
              <a:t> роли</a:t>
            </a:r>
            <a:r>
              <a:rPr lang="en-US" sz="2200" dirty="0">
                <a:latin typeface="Montserrat" pitchFamily="2" charset="-52"/>
              </a:rPr>
              <a:t> </a:t>
            </a:r>
            <a:r>
              <a:rPr lang="ru-RU" sz="2200" dirty="0">
                <a:latin typeface="Montserrat" pitchFamily="2" charset="-52"/>
              </a:rPr>
              <a:t>пользователей</a:t>
            </a:r>
          </a:p>
          <a:p>
            <a:pPr marL="228646" indent="-228646" defTabSz="914583">
              <a:lnSpc>
                <a:spcPct val="90000"/>
              </a:lnSpc>
              <a:spcAft>
                <a:spcPts val="1000"/>
              </a:spcAft>
              <a:buSzPct val="100000"/>
              <a:buBlip>
                <a:blip r:embed="rId2"/>
              </a:buBlip>
              <a:defRPr/>
            </a:pPr>
            <a:r>
              <a:rPr lang="ru-RU" sz="2200" b="1" dirty="0">
                <a:latin typeface="Montserrat" pitchFamily="2" charset="-52"/>
              </a:rPr>
              <a:t>5</a:t>
            </a:r>
            <a:r>
              <a:rPr lang="ru-RU" sz="2200" dirty="0">
                <a:latin typeface="Montserrat" pitchFamily="2" charset="-52"/>
              </a:rPr>
              <a:t> функций гостя</a:t>
            </a:r>
          </a:p>
          <a:p>
            <a:pPr marL="228646" indent="-228646" defTabSz="914583">
              <a:lnSpc>
                <a:spcPct val="90000"/>
              </a:lnSpc>
              <a:spcAft>
                <a:spcPts val="1000"/>
              </a:spcAft>
              <a:buSzPct val="100000"/>
              <a:buBlip>
                <a:blip r:embed="rId2"/>
              </a:buBlip>
              <a:defRPr/>
            </a:pPr>
            <a:r>
              <a:rPr lang="ru-RU" sz="2200" b="1" dirty="0">
                <a:latin typeface="Montserrat" pitchFamily="2" charset="-52"/>
              </a:rPr>
              <a:t>16</a:t>
            </a:r>
            <a:r>
              <a:rPr lang="ru-RU" sz="2200" dirty="0">
                <a:latin typeface="Montserrat" pitchFamily="2" charset="-52"/>
              </a:rPr>
              <a:t> функций гитариста</a:t>
            </a:r>
          </a:p>
          <a:p>
            <a:pPr marL="228646" indent="-228646" defTabSz="914583">
              <a:lnSpc>
                <a:spcPct val="90000"/>
              </a:lnSpc>
              <a:spcAft>
                <a:spcPts val="1000"/>
              </a:spcAft>
              <a:buSzPct val="100000"/>
              <a:buBlip>
                <a:blip r:embed="rId2"/>
              </a:buBlip>
              <a:defRPr/>
            </a:pPr>
            <a:r>
              <a:rPr lang="ru-RU" sz="2200" b="1" dirty="0">
                <a:latin typeface="Montserrat" pitchFamily="2" charset="-52"/>
              </a:rPr>
              <a:t>16</a:t>
            </a:r>
            <a:r>
              <a:rPr lang="ru-RU" sz="2200" dirty="0">
                <a:latin typeface="Montserrat" pitchFamily="2" charset="-52"/>
              </a:rPr>
              <a:t> функций премиума</a:t>
            </a:r>
            <a:endParaRPr lang="ru-RU" sz="2200" b="1" dirty="0">
              <a:latin typeface="Montserrat" pitchFamily="2" charset="-52"/>
            </a:endParaRPr>
          </a:p>
          <a:p>
            <a:pPr marL="228646" indent="-228646" defTabSz="914583">
              <a:lnSpc>
                <a:spcPct val="90000"/>
              </a:lnSpc>
              <a:spcAft>
                <a:spcPts val="1000"/>
              </a:spcAft>
              <a:buSzPct val="100000"/>
              <a:buBlip>
                <a:blip r:embed="rId2"/>
              </a:buBlip>
              <a:defRPr/>
            </a:pPr>
            <a:r>
              <a:rPr lang="ru-RU" sz="2200" b="1" dirty="0">
                <a:latin typeface="Montserrat" pitchFamily="2" charset="-52"/>
              </a:rPr>
              <a:t>12</a:t>
            </a:r>
            <a:r>
              <a:rPr lang="ru-RU" sz="2200" dirty="0">
                <a:latin typeface="Montserrat" pitchFamily="2" charset="-52"/>
              </a:rPr>
              <a:t> функций администратора</a:t>
            </a:r>
          </a:p>
          <a:p>
            <a:pPr marL="228646" indent="-228646" defTabSz="914583">
              <a:lnSpc>
                <a:spcPct val="90000"/>
              </a:lnSpc>
              <a:spcAft>
                <a:spcPts val="1000"/>
              </a:spcAft>
              <a:buSzPct val="100000"/>
              <a:buBlip>
                <a:blip r:embed="rId2"/>
              </a:buBlip>
              <a:defRPr/>
            </a:pPr>
            <a:r>
              <a:rPr lang="ru-RU" sz="2200" dirty="0">
                <a:latin typeface="Montserrat" pitchFamily="2" charset="-52"/>
              </a:rPr>
              <a:t>Всего </a:t>
            </a:r>
            <a:r>
              <a:rPr lang="ru-RU" sz="2200" b="1" dirty="0">
                <a:latin typeface="Montserrat" pitchFamily="2" charset="-52"/>
              </a:rPr>
              <a:t>27</a:t>
            </a:r>
            <a:r>
              <a:rPr lang="ru-RU" sz="2200" dirty="0">
                <a:latin typeface="Montserrat" pitchFamily="2" charset="-52"/>
              </a:rPr>
              <a:t> функций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10E954C-052F-4BF7-B0D6-3F74E1DEF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504" y="872097"/>
            <a:ext cx="5494196" cy="524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151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98503" y="200098"/>
            <a:ext cx="10518338" cy="653874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Логическая схема базы данных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82C853B-8505-4550-8347-76290FCDF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34" y="772623"/>
            <a:ext cx="9474524" cy="537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429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3613" y="149088"/>
            <a:ext cx="10977661" cy="755374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Архитектура веб-приложения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6B06568-AA2B-4AEB-92F8-B9D4A26E3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57" y="864607"/>
            <a:ext cx="10701430" cy="540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74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4730" y="15667"/>
            <a:ext cx="11291350" cy="1047030"/>
          </a:xfrm>
        </p:spPr>
        <p:txBody>
          <a:bodyPr>
            <a:normAutofit/>
          </a:bodyPr>
          <a:lstStyle/>
          <a:p>
            <a:r>
              <a:rPr lang="ru-RU" sz="2800" b="1" spc="-30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Используемые технологии и средства разработки </a:t>
            </a:r>
            <a:endParaRPr lang="en-US" sz="2800" b="1" spc="-30" dirty="0">
              <a:solidFill>
                <a:schemeClr val="bg2">
                  <a:lumMod val="50000"/>
                </a:schemeClr>
              </a:solidFill>
              <a:latin typeface="Montserrat" pitchFamily="2" charset="-52"/>
              <a:cs typeface="Arial" panose="020B0604020202020204" pitchFamily="34" charset="0"/>
            </a:endParaRPr>
          </a:p>
        </p:txBody>
      </p:sp>
      <p:graphicFrame>
        <p:nvGraphicFramePr>
          <p:cNvPr id="11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7020354"/>
              </p:ext>
            </p:extLst>
          </p:nvPr>
        </p:nvGraphicFramePr>
        <p:xfrm>
          <a:off x="1951095" y="867288"/>
          <a:ext cx="8292985" cy="49356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3453">
                  <a:extLst>
                    <a:ext uri="{9D8B030D-6E8A-4147-A177-3AD203B41FA5}">
                      <a16:colId xmlns:a16="http://schemas.microsoft.com/office/drawing/2014/main" val="61438817"/>
                    </a:ext>
                  </a:extLst>
                </a:gridCol>
                <a:gridCol w="107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Montserrat" pitchFamily="2" charset="-52"/>
                        </a:rPr>
                        <a:t>Технология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Montserrat" pitchFamily="2" charset="-52"/>
                        </a:rPr>
                        <a:t>Описание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Montserrat" pitchFamily="2" charset="-52"/>
                        </a:rPr>
                        <a:t>Версия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ASP.NET Core</a:t>
                      </a:r>
                      <a:endParaRPr lang="ru-RU" sz="1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Фреймворк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для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REST API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аутентификации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серверной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бизнес-логики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</a:t>
                      </a:r>
                      <a:endParaRPr lang="ru-RU" sz="1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Реляционная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СУБД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для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хранения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пользователей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музыкального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контента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761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Entity Framework 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ORM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для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доступа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к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данным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миграций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схемы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базы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10.0.7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React.js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Библиотека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для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построения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пользовательского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интерфейса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19.2.0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160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Next.js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Фреймворк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React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для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клиентского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веб-приложения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маршрутизации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16.0.1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25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TypeScript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Типизированный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язык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разработки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клиентской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части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172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Tailwind CSS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CSS-</a:t>
                      </a:r>
                      <a:r>
                        <a:rPr lang="en-US" sz="1400" i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фреймворк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для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оформления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адаптивного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интерфейса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350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i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MediatR</a:t>
                      </a:r>
                      <a:endParaRPr lang="en-US" sz="1400" i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Библиотека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CQRS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обработка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команд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запросов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на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сервере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14.1.0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64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JWT Bearer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Аутентификация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пользователей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JWT-</a:t>
                      </a:r>
                      <a:r>
                        <a:rPr lang="en-US" sz="1400" i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токенам</a:t>
                      </a:r>
                      <a:endParaRPr lang="en-US" sz="1400" i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10.0.7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903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Node.js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Среда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выполнения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для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сборки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разработки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клиентской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части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4710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Контейнеризация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backend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frontend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базы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данных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24.0.7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590725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872EE4-51C6-4F36-AC96-9410B588E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56899">
            <a:off x="590665" y="1133734"/>
            <a:ext cx="1067842" cy="1067842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B99A8FE-9527-4517-B85E-44AF6DC50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69651">
            <a:off x="10565847" y="4076262"/>
            <a:ext cx="1198682" cy="102603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0E74F12-84CB-4F42-9BA9-BD948B2605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1092" y="2543399"/>
            <a:ext cx="1026032" cy="1026032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E0D2A474-1DF2-4FCD-B80B-C1C03CF8E5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61368">
            <a:off x="484529" y="4691033"/>
            <a:ext cx="1187970" cy="118797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EFF3EE5-29B2-4C8C-A2E1-030FCAFE2A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790483">
            <a:off x="10641794" y="922215"/>
            <a:ext cx="1111329" cy="1146529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D8C95B0-9469-4473-AA75-0CA754E8C9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98089">
            <a:off x="496629" y="3091859"/>
            <a:ext cx="866520" cy="77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14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9014" y="167377"/>
            <a:ext cx="10977661" cy="736919"/>
          </a:xfrm>
        </p:spPr>
        <p:txBody>
          <a:bodyPr>
            <a:normAutofit/>
          </a:bodyPr>
          <a:lstStyle/>
          <a:p>
            <a:r>
              <a:rPr lang="ru-RU" sz="2800" b="1" dirty="0" err="1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Аалгоритм</a:t>
            </a:r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 создания аккорда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FE6DBD7-AA6A-4DD5-B184-DCE86242E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487" y="1361921"/>
            <a:ext cx="11169188" cy="416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310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0571" y="164515"/>
            <a:ext cx="11256901" cy="777317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Процесс создания паттерна игры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E74782C-16B7-4EAF-82EE-FBB2C1A75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203" y="831808"/>
            <a:ext cx="8298937" cy="530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420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1290" y="130916"/>
            <a:ext cx="11170702" cy="721910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Montserrat"/>
                <a:cs typeface="Arial" panose="020B0604020202020204" pitchFamily="34" charset="0"/>
              </a:rPr>
              <a:t>Тестирование веб-приложения</a:t>
            </a:r>
            <a:endParaRPr lang="en-US" sz="2800" b="1" dirty="0">
              <a:solidFill>
                <a:schemeClr val="bg2">
                  <a:lumMod val="50000"/>
                </a:schemeClr>
              </a:solidFill>
              <a:latin typeface="Montserrat"/>
              <a:cs typeface="Arial" panose="020B0604020202020204" pitchFamily="34" charset="0"/>
            </a:endParaRPr>
          </a:p>
        </p:txBody>
      </p:sp>
      <p:graphicFrame>
        <p:nvGraphicFramePr>
          <p:cNvPr id="5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6100256"/>
              </p:ext>
            </p:extLst>
          </p:nvPr>
        </p:nvGraphicFramePr>
        <p:xfrm>
          <a:off x="358589" y="2778761"/>
          <a:ext cx="11447332" cy="3091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9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0512">
                  <a:extLst>
                    <a:ext uri="{9D8B030D-6E8A-4147-A177-3AD203B41FA5}">
                      <a16:colId xmlns:a16="http://schemas.microsoft.com/office/drawing/2014/main" val="61438817"/>
                    </a:ext>
                  </a:extLst>
                </a:gridCol>
                <a:gridCol w="1747520">
                  <a:extLst>
                    <a:ext uri="{9D8B030D-6E8A-4147-A177-3AD203B41FA5}">
                      <a16:colId xmlns:a16="http://schemas.microsoft.com/office/drawing/2014/main" val="2733256880"/>
                    </a:ext>
                  </a:extLst>
                </a:gridCol>
                <a:gridCol w="12395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226">
                <a:tc>
                  <a:txBody>
                    <a:bodyPr/>
                    <a:lstStyle/>
                    <a:p>
                      <a:pPr algn="ctr"/>
                      <a:r>
                        <a:rPr lang="ru-RU" sz="1500" dirty="0">
                          <a:latin typeface="Montserrat" pitchFamily="2" charset="-52"/>
                        </a:rPr>
                        <a:t>Тестируемая функция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b="1" kern="1200" dirty="0">
                          <a:solidFill>
                            <a:schemeClr val="lt1"/>
                          </a:solidFill>
                          <a:effectLst/>
                          <a:latin typeface="Montserrat" pitchFamily="2" charset="-52"/>
                          <a:ea typeface="+mn-ea"/>
                          <a:cs typeface="+mn-cs"/>
                        </a:rPr>
                        <a:t>Шаги</a:t>
                      </a:r>
                      <a:endParaRPr lang="ru-RU" sz="1500" dirty="0">
                        <a:latin typeface="Montserrat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b="1" kern="1200" dirty="0">
                          <a:solidFill>
                            <a:schemeClr val="lt1"/>
                          </a:solidFill>
                          <a:effectLst/>
                          <a:latin typeface="Montserrat" pitchFamily="2" charset="-52"/>
                          <a:ea typeface="+mn-ea"/>
                          <a:cs typeface="+mn-cs"/>
                        </a:rPr>
                        <a:t>Ожидаемый результат</a:t>
                      </a:r>
                      <a:endParaRPr lang="ru-RU" sz="1500" dirty="0">
                        <a:latin typeface="Montserrat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>
                          <a:latin typeface="Montserrat" pitchFamily="2" charset="-52"/>
                        </a:rPr>
                        <a:t>Результат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1186">
                <a:tc>
                  <a:txBody>
                    <a:bodyPr/>
                    <a:lstStyle/>
                    <a:p>
                      <a:r>
                        <a:rPr lang="ru-RU" sz="15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Написать отзыв и поставить оценки песен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500" dirty="0">
                          <a:latin typeface="Montserrat" pitchFamily="2" charset="-52"/>
                        </a:rPr>
                        <a:t>1. Открыть страницу со списками песен.</a:t>
                      </a:r>
                    </a:p>
                    <a:p>
                      <a:r>
                        <a:rPr lang="ru-RU" sz="1500" dirty="0">
                          <a:latin typeface="Montserrat" pitchFamily="2" charset="-52"/>
                        </a:rPr>
                        <a:t>2. Выбрать чужую песню.</a:t>
                      </a:r>
                    </a:p>
                    <a:p>
                      <a:r>
                        <a:rPr lang="ru-RU" sz="1500" dirty="0">
                          <a:latin typeface="Montserrat" pitchFamily="2" charset="-52"/>
                        </a:rPr>
                        <a:t>3. Пролистать страницу просмотра песни в самый низ.</a:t>
                      </a:r>
                    </a:p>
                    <a:p>
                      <a:r>
                        <a:rPr lang="ru-RU" sz="1500" dirty="0">
                          <a:latin typeface="Montserrat" pitchFamily="2" charset="-52"/>
                        </a:rPr>
                        <a:t>4. Написать отзыв и выставить оценку песне.</a:t>
                      </a:r>
                    </a:p>
                    <a:p>
                      <a:r>
                        <a:rPr lang="ru-RU" sz="1500" dirty="0">
                          <a:latin typeface="Montserrat" pitchFamily="2" charset="-52"/>
                        </a:rPr>
                        <a:t>5. Нажать на кнопку </a:t>
                      </a:r>
                      <a:r>
                        <a:rPr lang="en-US" sz="1500" dirty="0">
                          <a:latin typeface="Montserrat" pitchFamily="2" charset="-52"/>
                        </a:rPr>
                        <a:t>«</a:t>
                      </a:r>
                      <a:r>
                        <a:rPr lang="ru-RU" sz="1500" i="1" kern="1200" dirty="0" err="1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Submit</a:t>
                      </a:r>
                      <a:r>
                        <a:rPr lang="ru-RU" sz="1500" i="1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500" i="1" kern="1200" dirty="0" err="1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Review</a:t>
                      </a:r>
                      <a:r>
                        <a:rPr lang="en-US" sz="1500" dirty="0">
                          <a:latin typeface="Montserrat" pitchFamily="2" charset="-52"/>
                        </a:rPr>
                        <a:t>»</a:t>
                      </a:r>
                      <a:r>
                        <a:rPr lang="ru-RU" sz="1500" dirty="0">
                          <a:latin typeface="Montserrat" pitchFamily="2" charset="-52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500" dirty="0">
                          <a:latin typeface="Montserrat" pitchFamily="2" charset="-52"/>
                        </a:rPr>
                        <a:t>Новый отзыв отображается в списке отзывов песни.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500" kern="1200" dirty="0">
                          <a:solidFill>
                            <a:schemeClr val="dk1"/>
                          </a:solidFill>
                          <a:effectLst/>
                          <a:latin typeface="Montserrat" pitchFamily="2" charset="-52"/>
                          <a:ea typeface="+mn-ea"/>
                          <a:cs typeface="+mn-cs"/>
                        </a:rPr>
                        <a:t>Успешно</a:t>
                      </a:r>
                      <a:endParaRPr lang="ru-RU" sz="1500" dirty="0">
                        <a:latin typeface="Montserrat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761453"/>
                  </a:ext>
                </a:extLst>
              </a:tr>
              <a:tr h="1271186">
                <a:tc>
                  <a:txBody>
                    <a:bodyPr/>
                    <a:lstStyle/>
                    <a:p>
                      <a:r>
                        <a:rPr lang="ru-RU" sz="1500" dirty="0">
                          <a:latin typeface="Montserrat" pitchFamily="2" charset="-52"/>
                        </a:rPr>
                        <a:t>Блокировка пользователя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500" dirty="0">
                          <a:latin typeface="Montserrat" pitchFamily="2" charset="-52"/>
                        </a:rPr>
                        <a:t>1. Авторизоваться как «Администратор».</a:t>
                      </a:r>
                    </a:p>
                    <a:p>
                      <a:r>
                        <a:rPr lang="ru-RU" sz="1500" dirty="0">
                          <a:latin typeface="Montserrat" pitchFamily="2" charset="-52"/>
                        </a:rPr>
                        <a:t>2. Перейти на страницу управления пользователями.</a:t>
                      </a:r>
                    </a:p>
                    <a:p>
                      <a:r>
                        <a:rPr lang="ru-RU" sz="1500" dirty="0">
                          <a:latin typeface="Montserrat" pitchFamily="2" charset="-52"/>
                        </a:rPr>
                        <a:t>3. Найти нужного пользователя через поисковую строку или в списке.</a:t>
                      </a:r>
                    </a:p>
                    <a:p>
                      <a:r>
                        <a:rPr lang="ru-RU" sz="1500" dirty="0">
                          <a:latin typeface="Montserrat" pitchFamily="2" charset="-52"/>
                        </a:rPr>
                        <a:t>4. Нажать на «</a:t>
                      </a:r>
                      <a:r>
                        <a:rPr lang="ru-RU" sz="1500" i="1" kern="1200" dirty="0" err="1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Block</a:t>
                      </a:r>
                      <a:r>
                        <a:rPr lang="ru-RU" sz="1500" dirty="0">
                          <a:latin typeface="Montserrat" pitchFamily="2" charset="-52"/>
                        </a:rPr>
                        <a:t>».</a:t>
                      </a:r>
                    </a:p>
                    <a:p>
                      <a:r>
                        <a:rPr lang="ru-RU" sz="1500" dirty="0">
                          <a:latin typeface="Montserrat" pitchFamily="2" charset="-52"/>
                        </a:rPr>
                        <a:t>5. Ввести причину и время блокировки пользователя и подтвердить блокировку.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500" dirty="0">
                          <a:latin typeface="Montserrat" pitchFamily="2" charset="-52"/>
                        </a:rPr>
                        <a:t>Выбранный пользователь будет заблокирован.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500" kern="1200" dirty="0">
                          <a:solidFill>
                            <a:schemeClr val="dk1"/>
                          </a:solidFill>
                          <a:effectLst/>
                          <a:latin typeface="Montserrat" pitchFamily="2" charset="-52"/>
                          <a:ea typeface="+mn-ea"/>
                          <a:cs typeface="+mn-cs"/>
                        </a:rPr>
                        <a:t>Успешно</a:t>
                      </a:r>
                      <a:endParaRPr lang="ru-RU" sz="1500" dirty="0">
                        <a:latin typeface="Montserrat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358588" y="1053046"/>
            <a:ext cx="11254292" cy="100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46" indent="-228646" defTabSz="914583">
              <a:lnSpc>
                <a:spcPct val="90000"/>
              </a:lnSpc>
              <a:buSzPct val="100000"/>
              <a:buBlip>
                <a:blip r:embed="rId2"/>
              </a:buBlip>
            </a:pPr>
            <a:r>
              <a:rPr lang="ru-RU" sz="2200" dirty="0">
                <a:latin typeface="Montserrat" pitchFamily="2" charset="-52"/>
              </a:rPr>
              <a:t>Тестирование </a:t>
            </a:r>
            <a:r>
              <a:rPr lang="en-US" sz="2200" i="1" dirty="0">
                <a:latin typeface="Montserrat" pitchFamily="2" charset="-52"/>
              </a:rPr>
              <a:t>API</a:t>
            </a:r>
            <a:r>
              <a:rPr lang="en-US" sz="2200" dirty="0">
                <a:latin typeface="Montserrat" pitchFamily="2" charset="-52"/>
              </a:rPr>
              <a:t> </a:t>
            </a:r>
            <a:r>
              <a:rPr lang="ru-RU" sz="2200" dirty="0">
                <a:latin typeface="Montserrat" pitchFamily="2" charset="-52"/>
              </a:rPr>
              <a:t>через </a:t>
            </a:r>
            <a:r>
              <a:rPr lang="en-US" sz="2200" i="1" dirty="0">
                <a:latin typeface="Montserrat" pitchFamily="2" charset="-52"/>
              </a:rPr>
              <a:t>Swagger</a:t>
            </a:r>
            <a:r>
              <a:rPr lang="en-US" sz="2200" dirty="0">
                <a:latin typeface="Montserrat" pitchFamily="2" charset="-52"/>
              </a:rPr>
              <a:t> →</a:t>
            </a:r>
            <a:r>
              <a:rPr lang="ru-RU" sz="2200" dirty="0">
                <a:latin typeface="Montserrat" pitchFamily="2" charset="-52"/>
              </a:rPr>
              <a:t> проверена </a:t>
            </a:r>
            <a:r>
              <a:rPr lang="en-US" sz="2200" b="1" dirty="0">
                <a:latin typeface="Montserrat" pitchFamily="2" charset="-52"/>
              </a:rPr>
              <a:t>86</a:t>
            </a:r>
            <a:r>
              <a:rPr lang="ru-RU" sz="2200" dirty="0">
                <a:latin typeface="Montserrat" pitchFamily="2" charset="-52"/>
              </a:rPr>
              <a:t> конечных точек </a:t>
            </a:r>
            <a:r>
              <a:rPr lang="en-US" sz="2200" dirty="0">
                <a:latin typeface="Montserrat" pitchFamily="2" charset="-52"/>
              </a:rPr>
              <a:t>API</a:t>
            </a:r>
            <a:r>
              <a:rPr lang="ru-RU" sz="2200" dirty="0">
                <a:latin typeface="Montserrat" pitchFamily="2" charset="-52"/>
              </a:rPr>
              <a:t>.</a:t>
            </a:r>
            <a:r>
              <a:rPr lang="en-US" sz="2200" dirty="0">
                <a:latin typeface="Montserrat" pitchFamily="2" charset="-52"/>
              </a:rPr>
              <a:t> </a:t>
            </a:r>
            <a:endParaRPr lang="ru-RU" sz="2200" dirty="0">
              <a:latin typeface="Montserrat" pitchFamily="2" charset="-52"/>
            </a:endParaRPr>
          </a:p>
          <a:p>
            <a:pPr marL="228646" indent="-228646" defTabSz="914583">
              <a:lnSpc>
                <a:spcPct val="90000"/>
              </a:lnSpc>
              <a:buSzPct val="100000"/>
              <a:buBlip>
                <a:blip r:embed="rId2"/>
              </a:buBlip>
            </a:pPr>
            <a:r>
              <a:rPr lang="ru-RU" sz="2200" dirty="0">
                <a:latin typeface="Montserrat" pitchFamily="2" charset="-52"/>
              </a:rPr>
              <a:t>Функциональное тестирование </a:t>
            </a:r>
            <a:r>
              <a:rPr lang="en-US" sz="2200" dirty="0">
                <a:latin typeface="Montserrat" pitchFamily="2" charset="-52"/>
              </a:rPr>
              <a:t>→</a:t>
            </a:r>
            <a:r>
              <a:rPr lang="ru-RU" sz="2200" dirty="0">
                <a:latin typeface="Montserrat" pitchFamily="2" charset="-52"/>
              </a:rPr>
              <a:t> протестировано </a:t>
            </a:r>
            <a:r>
              <a:rPr lang="ru-RU" sz="2200" b="1" dirty="0">
                <a:latin typeface="Montserrat" pitchFamily="2" charset="-52"/>
              </a:rPr>
              <a:t>27</a:t>
            </a:r>
            <a:r>
              <a:rPr lang="ru-RU" sz="2200" dirty="0">
                <a:latin typeface="Montserrat" pitchFamily="2" charset="-52"/>
              </a:rPr>
              <a:t> функций.</a:t>
            </a:r>
          </a:p>
          <a:p>
            <a:pPr marL="228646" indent="-228646" defTabSz="914583">
              <a:lnSpc>
                <a:spcPct val="90000"/>
              </a:lnSpc>
              <a:buSzPct val="100000"/>
              <a:buBlip>
                <a:blip r:embed="rId2"/>
              </a:buBlip>
            </a:pPr>
            <a:r>
              <a:rPr lang="ru-RU" sz="2200" dirty="0">
                <a:latin typeface="Montserrat" pitchFamily="2" charset="-52"/>
              </a:rPr>
              <a:t>Модульное тестирование </a:t>
            </a:r>
            <a:r>
              <a:rPr lang="en-US" sz="2200" dirty="0">
                <a:latin typeface="Montserrat" pitchFamily="2" charset="-52"/>
              </a:rPr>
              <a:t>→</a:t>
            </a:r>
            <a:r>
              <a:rPr lang="ru-RU" sz="2200" dirty="0">
                <a:latin typeface="Montserrat" pitchFamily="2" charset="-52"/>
              </a:rPr>
              <a:t> протестировано </a:t>
            </a:r>
            <a:r>
              <a:rPr lang="ru-RU" sz="2200" b="1" dirty="0">
                <a:latin typeface="Montserrat" pitchFamily="2" charset="-52"/>
              </a:rPr>
              <a:t>27 </a:t>
            </a:r>
            <a:r>
              <a:rPr lang="ru-RU" sz="2200" dirty="0">
                <a:latin typeface="Montserrat" pitchFamily="2" charset="-52"/>
              </a:rPr>
              <a:t>функций.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358588" y="2345550"/>
            <a:ext cx="11254292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583">
              <a:lnSpc>
                <a:spcPct val="90000"/>
              </a:lnSpc>
              <a:buSzPct val="100000"/>
            </a:pPr>
            <a:r>
              <a:rPr lang="ru-RU" sz="2200" dirty="0">
                <a:latin typeface="Montserrat" pitchFamily="2" charset="-52"/>
              </a:rPr>
              <a:t>Фрагмент таблицы с тест-кейсами</a:t>
            </a:r>
            <a:r>
              <a:rPr lang="ru-RU" sz="2200" dirty="0">
                <a:latin typeface="Montserrat" pitchFamily="2" charset="-52"/>
                <a:sym typeface="Wingdings" panose="05000000000000000000" pitchFamily="2" charset="2"/>
              </a:rPr>
              <a:t>(не нужен)</a:t>
            </a:r>
            <a:r>
              <a:rPr lang="ru-RU" sz="2200" dirty="0">
                <a:latin typeface="Montserrat" pitchFamily="2" charset="-52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119382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78718176-26FF-4F33-BC69-6ED7897F4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590910">
            <a:off x="10549072" y="1431963"/>
            <a:ext cx="914400" cy="9144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6339" y="82396"/>
            <a:ext cx="9128541" cy="801524"/>
          </a:xfrm>
        </p:spPr>
        <p:txBody>
          <a:bodyPr>
            <a:normAutofit/>
          </a:bodyPr>
          <a:lstStyle/>
          <a:p>
            <a:r>
              <a:rPr lang="ru-RU" sz="3100" b="1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Экономическое</a:t>
            </a:r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 обоснование стоимости проекта</a:t>
            </a:r>
            <a:endParaRPr lang="en-US" sz="2800" b="1" dirty="0">
              <a:solidFill>
                <a:schemeClr val="bg2">
                  <a:lumMod val="50000"/>
                </a:schemeClr>
              </a:solidFill>
              <a:latin typeface="Montserrat" pitchFamily="2" charset="-52"/>
              <a:cs typeface="Arial" panose="020B0604020202020204" pitchFamily="34" charset="0"/>
            </a:endParaRPr>
          </a:p>
        </p:txBody>
      </p:sp>
      <p:graphicFrame>
        <p:nvGraphicFramePr>
          <p:cNvPr id="8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3489175"/>
              </p:ext>
            </p:extLst>
          </p:nvPr>
        </p:nvGraphicFramePr>
        <p:xfrm>
          <a:off x="1805204" y="833120"/>
          <a:ext cx="8584768" cy="51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7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7760">
                  <a:extLst>
                    <a:ext uri="{9D8B030D-6E8A-4147-A177-3AD203B41FA5}">
                      <a16:colId xmlns:a16="http://schemas.microsoft.com/office/drawing/2014/main" val="61438817"/>
                    </a:ext>
                  </a:extLst>
                </a:gridCol>
              </a:tblGrid>
              <a:tr h="345600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400" dirty="0">
                          <a:latin typeface="Montserrat" pitchFamily="2" charset="-52"/>
                        </a:rPr>
                        <a:t>Наименование показателя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400">
                          <a:latin typeface="Montserrat" pitchFamily="2" charset="-52"/>
                        </a:rPr>
                        <a:t>Значение</a:t>
                      </a:r>
                      <a:endParaRPr lang="ru-RU" sz="1400" dirty="0">
                        <a:latin typeface="Montserrat" pitchFamily="2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Время разработки, чел.-часов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538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400" dirty="0">
                          <a:latin typeface="Montserrat" pitchFamily="2" charset="-52"/>
                        </a:rPr>
                        <a:t>Основная заработная плата, руб.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9 269,88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6761453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Дополнительная заработная плата, руб.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1 112,39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Отчисления в Фонд социальной защиты населения, руб.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3 529,97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7160143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Отчисления в БРУСП «</a:t>
                      </a:r>
                      <a:r>
                        <a:rPr lang="ru-RU" sz="1400" kern="1200" dirty="0" err="1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Белгосстрах</a:t>
                      </a: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», руб.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62,29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8250259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marL="0" marR="0" lvl="0" indent="0" algn="l" defTabSz="914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  <a:defRPr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Прочие прямые затраты, руб.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2 317,47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1172936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Накладные расходы, руб.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4 078,75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2350244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marL="0" marR="0" lvl="0" indent="0" algn="l" defTabSz="914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  <a:defRPr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Себестоимость разработки программного средства, руб.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20 370,75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2749377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marL="0" marR="0" lvl="0" indent="0" algn="l" defTabSz="914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  <a:defRPr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Расходы на сопровождение и адаптацию, руб.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2 037,08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1887057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marL="0" marR="0" lvl="0" indent="0" algn="l" defTabSz="914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  <a:defRPr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Полная себестоимость, руб.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22 407,82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8263521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marL="0" marR="0" lvl="0" indent="0" algn="l" defTabSz="914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  <a:defRPr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Рентабельность проекта,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40,94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8624406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Чистая прибыль, руб.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7 338,17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459407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Цена программного средства без НДС, руб.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31 580,53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64334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Прибыль от реализации, руб.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9 172,71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4903329"/>
                  </a:ext>
                </a:extLst>
              </a:tr>
            </a:tbl>
          </a:graphicData>
        </a:graphic>
      </p:graphicFrame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1953974-3B55-4984-B00D-E7DE6D4DC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2452">
            <a:off x="11236320" y="2153732"/>
            <a:ext cx="914400" cy="91440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A6C82C96-A4A8-4F73-93F9-B1B8612D5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2452">
            <a:off x="623062" y="745591"/>
            <a:ext cx="914400" cy="91440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185B2682-2E5D-4AE5-9DAD-5DA596875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2452">
            <a:off x="10688693" y="4009318"/>
            <a:ext cx="914400" cy="91440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552A1154-209B-4290-AEFC-FFA35669C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2452">
            <a:off x="229852" y="4834271"/>
            <a:ext cx="914400" cy="914400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1FA1736D-C1A6-42B6-BDB3-489997926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32" y="1834128"/>
            <a:ext cx="914400" cy="9144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F22D74F2-29D0-4E3A-A593-3E798243A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8844" y="2914642"/>
            <a:ext cx="914400" cy="9144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D52474FA-F64C-438C-8B08-BF0A1CEA0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3869" y="439787"/>
            <a:ext cx="914400" cy="9144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E8B1E88D-BA59-47C8-9D5A-84697D51E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10" y="3991049"/>
            <a:ext cx="548194" cy="548194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237D70C6-2A02-4EB3-874F-54919498A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672" y="5654850"/>
            <a:ext cx="548194" cy="548194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17221DCA-EF4E-48E0-8B31-E6D0A7CB5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3635" y="221740"/>
            <a:ext cx="548194" cy="548194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7E4292E8-1A06-4B32-8C91-951756FAD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8091" y="5621640"/>
            <a:ext cx="548194" cy="548194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623C3A41-3AF5-4A27-AEBD-A5F694282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41802">
            <a:off x="652207" y="2908055"/>
            <a:ext cx="914400" cy="914400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6DA46C57-F724-440E-9134-5E31102D8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461156">
            <a:off x="11179087" y="482291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973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551290" y="130916"/>
            <a:ext cx="11170702" cy="721910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Montserrat"/>
                <a:cs typeface="Arial" panose="020B0604020202020204" pitchFamily="34" charset="0"/>
              </a:rPr>
              <a:t>Демонстрация проекта</a:t>
            </a:r>
            <a:endParaRPr lang="en-US" sz="2800" b="1" dirty="0">
              <a:solidFill>
                <a:schemeClr val="bg2">
                  <a:lumMod val="50000"/>
                </a:schemeClr>
              </a:solidFill>
              <a:latin typeface="Montserra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83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79059" y="128723"/>
            <a:ext cx="10518338" cy="742766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Заключение</a:t>
            </a:r>
            <a:endParaRPr lang="en-US" sz="3600" b="1" dirty="0">
              <a:solidFill>
                <a:schemeClr val="bg2">
                  <a:lumMod val="50000"/>
                </a:schemeClr>
              </a:solidFill>
              <a:latin typeface="Montserrat" pitchFamily="2" charset="-52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3188" y="994734"/>
            <a:ext cx="114707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spc="-20" dirty="0">
                <a:latin typeface="Montserrat" pitchFamily="2" charset="-52"/>
              </a:rPr>
              <a:t> 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879059" y="2079931"/>
            <a:ext cx="965046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46" marR="0" lvl="0" indent="-228646" defTabSz="914583" fontAlgn="base">
              <a:spcBef>
                <a:spcPct val="0"/>
              </a:spcBef>
              <a:buClrTx/>
              <a:buSzPct val="100000"/>
              <a:buBlip>
                <a:blip r:embed="rId2"/>
              </a:buBlip>
              <a:tabLst/>
            </a:pPr>
            <a:r>
              <a:rPr lang="ru-RU" altLang="ru-RU" sz="2000" dirty="0">
                <a:latin typeface="Montserrat" pitchFamily="2" charset="-52"/>
              </a:rPr>
              <a:t> Технологии: </a:t>
            </a:r>
            <a:r>
              <a:rPr lang="en-US" altLang="ru-RU" sz="2000" i="1" dirty="0">
                <a:latin typeface="Mongolian Baiti" panose="03000500000000000000" pitchFamily="66" charset="0"/>
                <a:cs typeface="Mongolian Baiti" panose="03000500000000000000" pitchFamily="66" charset="0"/>
              </a:rPr>
              <a:t>ASP.NET Core, Next.js, PostgreSQL, Entity </a:t>
            </a:r>
            <a:r>
              <a:rPr lang="en-US" sz="2000" i="1" dirty="0">
                <a:latin typeface="Mongolian Baiti" panose="03000500000000000000" pitchFamily="66" charset="0"/>
                <a:cs typeface="Mongolian Baiti" panose="03000500000000000000" pitchFamily="66" charset="0"/>
              </a:rPr>
              <a:t>Framework</a:t>
            </a:r>
            <a:r>
              <a:rPr lang="en-US" altLang="ru-RU" sz="2000" i="1" dirty="0">
                <a:latin typeface="Mongolian Baiti" panose="03000500000000000000" pitchFamily="66" charset="0"/>
                <a:cs typeface="Mongolian Baiti" panose="03000500000000000000" pitchFamily="66" charset="0"/>
              </a:rPr>
              <a:t> Core </a:t>
            </a:r>
            <a:endParaRPr lang="ru-RU" altLang="ru-RU" sz="2000" i="1" dirty="0">
              <a:latin typeface="Montserrat"/>
              <a:cs typeface="Mongolian Baiti" panose="03000500000000000000" pitchFamily="66" charset="0"/>
            </a:endParaRPr>
          </a:p>
          <a:p>
            <a:pPr marL="228646" marR="0" lvl="0" indent="-228646" defTabSz="914583" fontAlgn="base">
              <a:spcBef>
                <a:spcPct val="0"/>
              </a:spcBef>
              <a:buClrTx/>
              <a:buSzPct val="100000"/>
              <a:buBlip>
                <a:blip r:embed="rId2"/>
              </a:buBlip>
              <a:tabLst/>
            </a:pPr>
            <a:r>
              <a:rPr lang="ru-RU" altLang="ru-RU" sz="2000" dirty="0">
                <a:latin typeface="Montserrat" pitchFamily="2" charset="-52"/>
              </a:rPr>
              <a:t> </a:t>
            </a:r>
            <a:r>
              <a:rPr lang="en-US" altLang="ru-RU" sz="2000" b="1" dirty="0">
                <a:latin typeface="Montserrat" pitchFamily="2" charset="-52"/>
              </a:rPr>
              <a:t>4</a:t>
            </a:r>
            <a:r>
              <a:rPr lang="ru-RU" altLang="ru-RU" sz="2000" dirty="0">
                <a:latin typeface="Montserrat" pitchFamily="2" charset="-52"/>
              </a:rPr>
              <a:t> пользовательские роли: Гость,</a:t>
            </a:r>
            <a:r>
              <a:rPr lang="en-US" altLang="ru-RU" sz="2000" dirty="0">
                <a:latin typeface="Montserrat" pitchFamily="2" charset="-52"/>
              </a:rPr>
              <a:t> </a:t>
            </a:r>
            <a:r>
              <a:rPr lang="ru-RU" altLang="ru-RU" sz="2000" dirty="0">
                <a:latin typeface="Montserrat" pitchFamily="2" charset="-52"/>
              </a:rPr>
              <a:t>Гитарист, Премиум, Администратор </a:t>
            </a:r>
          </a:p>
          <a:p>
            <a:pPr marL="228646" marR="0" lvl="0" indent="-228646" defTabSz="914583" fontAlgn="base">
              <a:spcBef>
                <a:spcPct val="0"/>
              </a:spcBef>
              <a:buClrTx/>
              <a:buSzPct val="100000"/>
              <a:buBlip>
                <a:blip r:embed="rId2"/>
              </a:buBlip>
              <a:tabLst/>
            </a:pPr>
            <a:r>
              <a:rPr lang="ru-RU" altLang="ru-RU" sz="2000" dirty="0">
                <a:latin typeface="Montserrat" pitchFamily="2" charset="-52"/>
              </a:rPr>
              <a:t> База данных: спроектировано </a:t>
            </a:r>
            <a:r>
              <a:rPr lang="ru-RU" altLang="ru-RU" sz="2000" b="1" dirty="0">
                <a:latin typeface="Montserrat" pitchFamily="2" charset="-52"/>
              </a:rPr>
              <a:t>14 </a:t>
            </a:r>
            <a:r>
              <a:rPr lang="ru-RU" altLang="ru-RU" sz="2000" dirty="0">
                <a:latin typeface="Montserrat" pitchFamily="2" charset="-52"/>
              </a:rPr>
              <a:t>таблиц</a:t>
            </a:r>
          </a:p>
          <a:p>
            <a:pPr marL="228646" marR="0" lvl="0" indent="-228646" defTabSz="914583" fontAlgn="base">
              <a:spcBef>
                <a:spcPct val="0"/>
              </a:spcBef>
              <a:buClrTx/>
              <a:buSzPct val="100000"/>
              <a:buBlip>
                <a:blip r:embed="rId2"/>
              </a:buBlip>
              <a:tabLst/>
            </a:pPr>
            <a:r>
              <a:rPr lang="ru-RU" altLang="ru-RU" sz="2000" dirty="0">
                <a:latin typeface="Montserrat" pitchFamily="2" charset="-52"/>
              </a:rPr>
              <a:t> Реализовано: </a:t>
            </a:r>
            <a:r>
              <a:rPr lang="ru-RU" altLang="ru-RU" sz="2000" b="1" dirty="0">
                <a:latin typeface="Montserrat" pitchFamily="2" charset="-52"/>
              </a:rPr>
              <a:t>27</a:t>
            </a:r>
            <a:r>
              <a:rPr lang="ru-RU" altLang="ru-RU" sz="2000" dirty="0">
                <a:latin typeface="Montserrat" pitchFamily="2" charset="-52"/>
              </a:rPr>
              <a:t> функций</a:t>
            </a:r>
          </a:p>
          <a:p>
            <a:pPr marL="228646" marR="0" lvl="0" indent="-228646" defTabSz="914583" fontAlgn="base">
              <a:spcBef>
                <a:spcPct val="0"/>
              </a:spcBef>
              <a:buClrTx/>
              <a:buSzPct val="100000"/>
              <a:buBlip>
                <a:blip r:embed="rId2"/>
              </a:buBlip>
              <a:tabLst/>
            </a:pPr>
            <a:r>
              <a:rPr lang="ru-RU" altLang="ru-RU" sz="2000" dirty="0">
                <a:latin typeface="Montserrat" pitchFamily="2" charset="-52"/>
              </a:rPr>
              <a:t> Функциональное тестирование: </a:t>
            </a:r>
            <a:r>
              <a:rPr lang="ru-RU" altLang="ru-RU" sz="2000" b="1" dirty="0">
                <a:latin typeface="Montserrat" pitchFamily="2" charset="-52"/>
              </a:rPr>
              <a:t>100%</a:t>
            </a:r>
            <a:r>
              <a:rPr lang="ru-RU" altLang="ru-RU" sz="2000" dirty="0">
                <a:latin typeface="Montserrat" pitchFamily="2" charset="-52"/>
              </a:rPr>
              <a:t> покрытие</a:t>
            </a:r>
          </a:p>
          <a:p>
            <a:pPr marL="228646" marR="0" lvl="0" indent="-228646" defTabSz="914583" fontAlgn="base">
              <a:spcBef>
                <a:spcPct val="0"/>
              </a:spcBef>
              <a:buClrTx/>
              <a:buSzPct val="100000"/>
              <a:buBlip>
                <a:blip r:embed="rId2"/>
              </a:buBlip>
              <a:tabLst/>
            </a:pPr>
            <a:r>
              <a:rPr lang="ru-RU" altLang="ru-RU" sz="2000" dirty="0">
                <a:latin typeface="Montserrat" pitchFamily="2" charset="-52"/>
              </a:rPr>
              <a:t> Модульное тестирование: стабильная работа отдельных блоков</a:t>
            </a:r>
          </a:p>
          <a:p>
            <a:pPr marL="228646" marR="0" lvl="0" indent="-228646" defTabSz="914583" fontAlgn="base">
              <a:spcBef>
                <a:spcPct val="0"/>
              </a:spcBef>
              <a:buClrTx/>
              <a:buSzPct val="100000"/>
              <a:buBlip>
                <a:blip r:embed="rId2"/>
              </a:buBlip>
              <a:tabLst/>
            </a:pPr>
            <a:r>
              <a:rPr lang="ru-RU" altLang="ru-RU" sz="2000" dirty="0">
                <a:latin typeface="Montserrat" pitchFamily="2" charset="-52"/>
              </a:rPr>
              <a:t> Документация: руководство пользователя для всех ролей</a:t>
            </a:r>
          </a:p>
          <a:p>
            <a:pPr marL="228646" marR="0" lvl="0" indent="-228646" defTabSz="914583" fontAlgn="base">
              <a:spcBef>
                <a:spcPct val="0"/>
              </a:spcBef>
              <a:buClrTx/>
              <a:buSzPct val="100000"/>
              <a:buBlip>
                <a:blip r:embed="rId2"/>
              </a:buBlip>
              <a:tabLst/>
            </a:pPr>
            <a:r>
              <a:rPr lang="ru-RU" altLang="ru-RU" sz="2000" dirty="0">
                <a:latin typeface="Montserrat" pitchFamily="2" charset="-52"/>
              </a:rPr>
              <a:t> Рентабельность проекта: </a:t>
            </a:r>
            <a:r>
              <a:rPr lang="ru-RU" altLang="ru-RU" sz="2000" b="1" dirty="0">
                <a:latin typeface="Montserrat" pitchFamily="2" charset="-52"/>
              </a:rPr>
              <a:t>41%</a:t>
            </a:r>
          </a:p>
        </p:txBody>
      </p:sp>
    </p:spTree>
    <p:extLst>
      <p:ext uri="{BB962C8B-B14F-4D97-AF65-F5344CB8AC3E}">
        <p14:creationId xmlns:p14="http://schemas.microsoft.com/office/powerpoint/2010/main" val="3477769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F2F56B0-9997-401F-A374-6465B1F70D6F}"/>
              </a:ext>
            </a:extLst>
          </p:cNvPr>
          <p:cNvSpPr/>
          <p:nvPr/>
        </p:nvSpPr>
        <p:spPr>
          <a:xfrm>
            <a:off x="658382" y="580381"/>
            <a:ext cx="10878410" cy="5586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spc="-30" dirty="0">
                <a:latin typeface="Montserrat" pitchFamily="2" charset="-52"/>
                <a:cs typeface="Times New Roman" panose="02020603050405020304" pitchFamily="18" charset="0"/>
              </a:rPr>
              <a:t>МИНИСТЕРСТВО ОБРАЗОВАНИЯ РЕСПУБЛИКИ БЕЛАРУСЬ</a:t>
            </a:r>
            <a:br>
              <a:rPr lang="en-US" sz="2400" spc="-30" dirty="0">
                <a:latin typeface="Montserrat" pitchFamily="2" charset="-52"/>
                <a:cs typeface="Times New Roman" panose="02020603050405020304" pitchFamily="18" charset="0"/>
              </a:rPr>
            </a:br>
            <a:r>
              <a:rPr lang="ru-RU" sz="2400" spc="-30" dirty="0">
                <a:latin typeface="Montserrat" pitchFamily="2" charset="-52"/>
                <a:cs typeface="Times New Roman" panose="02020603050405020304" pitchFamily="18" charset="0"/>
              </a:rPr>
              <a:t>Учреждения образования «БЕЛОРУССКИЙ ГОСУДАРСТВЕННЫЙ </a:t>
            </a:r>
            <a:br>
              <a:rPr lang="en-US" sz="2400" spc="-30" dirty="0">
                <a:latin typeface="Montserrat" pitchFamily="2" charset="-52"/>
                <a:cs typeface="Times New Roman" panose="02020603050405020304" pitchFamily="18" charset="0"/>
              </a:rPr>
            </a:br>
            <a:r>
              <a:rPr lang="ru-RU" sz="2400" spc="-30" dirty="0">
                <a:latin typeface="Montserrat" pitchFamily="2" charset="-52"/>
                <a:cs typeface="Times New Roman" panose="02020603050405020304" pitchFamily="18" charset="0"/>
              </a:rPr>
              <a:t>ТЕХНОЛОГИЧЕСКИЙ УНИВЕРСИТЕТ»</a:t>
            </a:r>
            <a:br>
              <a:rPr lang="ru-RU" sz="2400" spc="-30" dirty="0">
                <a:latin typeface="Montserrat" pitchFamily="2" charset="-52"/>
                <a:cs typeface="Times New Roman" panose="02020603050405020304" pitchFamily="18" charset="0"/>
              </a:rPr>
            </a:br>
            <a:br>
              <a:rPr lang="ru-RU" sz="2400" spc="-30" dirty="0">
                <a:latin typeface="Montserrat" pitchFamily="2" charset="-52"/>
                <a:cs typeface="Times New Roman" panose="02020603050405020304" pitchFamily="18" charset="0"/>
              </a:rPr>
            </a:br>
            <a:r>
              <a:rPr lang="ru-RU" altLang="ru-RU" sz="2400" spc="-30" dirty="0">
                <a:latin typeface="Montserrat" pitchFamily="2" charset="-52"/>
                <a:cs typeface="Times New Roman" panose="02020603050405020304" pitchFamily="18" charset="0"/>
              </a:rPr>
              <a:t>Факультет информационных технологий</a:t>
            </a:r>
            <a:br>
              <a:rPr lang="ru-RU" altLang="ru-RU" sz="2400" spc="-30" dirty="0">
                <a:latin typeface="Montserrat" pitchFamily="2" charset="-52"/>
                <a:cs typeface="Times New Roman" panose="02020603050405020304" pitchFamily="18" charset="0"/>
              </a:rPr>
            </a:br>
            <a:r>
              <a:rPr lang="ru-RU" altLang="ru-RU" sz="2400" spc="-30" dirty="0">
                <a:latin typeface="Montserrat" pitchFamily="2" charset="-52"/>
                <a:cs typeface="Times New Roman" panose="02020603050405020304" pitchFamily="18" charset="0"/>
              </a:rPr>
              <a:t>Кафедра программной инженерии</a:t>
            </a:r>
            <a:br>
              <a:rPr lang="ru-RU" altLang="ru-RU" sz="2800" spc="-30" dirty="0">
                <a:latin typeface="Montserrat" pitchFamily="2" charset="-52"/>
                <a:cs typeface="Times New Roman" panose="02020603050405020304" pitchFamily="18" charset="0"/>
              </a:rPr>
            </a:br>
            <a:br>
              <a:rPr lang="ru-RU" sz="2800" b="1" spc="-30" dirty="0">
                <a:latin typeface="Montserrat" pitchFamily="2" charset="-52"/>
                <a:cs typeface="Times New Roman" panose="02020603050405020304" pitchFamily="18" charset="0"/>
              </a:rPr>
            </a:br>
            <a:r>
              <a:rPr lang="ru-RU" sz="2800" b="1" spc="-30" dirty="0">
                <a:latin typeface="Montserrat" pitchFamily="2" charset="-52"/>
                <a:cs typeface="Times New Roman" panose="02020603050405020304" pitchFamily="18" charset="0"/>
              </a:rPr>
              <a:t>Тема дипломного проекта:</a:t>
            </a:r>
            <a:br>
              <a:rPr lang="ru-RU" sz="2800" spc="-30" dirty="0">
                <a:latin typeface="Montserrat" pitchFamily="2" charset="-52"/>
                <a:cs typeface="Times New Roman" panose="02020603050405020304" pitchFamily="18" charset="0"/>
              </a:rPr>
            </a:br>
            <a:r>
              <a:rPr lang="ru-RU" sz="2800" spc="-30" dirty="0">
                <a:latin typeface="Montserrat" pitchFamily="2" charset="-52"/>
                <a:cs typeface="Times New Roman" panose="02020603050405020304" pitchFamily="18" charset="0"/>
              </a:rPr>
              <a:t>«Веб-приложение «Гитарный блокнот</a:t>
            </a:r>
            <a:r>
              <a:rPr lang="en-US" sz="2800" spc="-30" dirty="0">
                <a:latin typeface="Montserrat" pitchFamily="2" charset="-52"/>
                <a:cs typeface="Times New Roman" panose="02020603050405020304" pitchFamily="18" charset="0"/>
              </a:rPr>
              <a:t>»</a:t>
            </a:r>
            <a:r>
              <a:rPr lang="ru-RU" sz="2800" spc="-30" dirty="0">
                <a:latin typeface="Montserrat" pitchFamily="2" charset="-52"/>
                <a:cs typeface="Times New Roman" panose="02020603050405020304" pitchFamily="18" charset="0"/>
              </a:rPr>
              <a:t>»</a:t>
            </a:r>
            <a:br>
              <a:rPr lang="en-US" sz="2800" spc="-30" dirty="0">
                <a:latin typeface="Montserrat" pitchFamily="2" charset="-52"/>
                <a:cs typeface="Times New Roman" panose="02020603050405020304" pitchFamily="18" charset="0"/>
              </a:rPr>
            </a:br>
            <a:br>
              <a:rPr lang="en-US" sz="2800" spc="-30" dirty="0">
                <a:latin typeface="Montserrat" pitchFamily="2" charset="-52"/>
                <a:cs typeface="Times New Roman" panose="02020603050405020304" pitchFamily="18" charset="0"/>
              </a:rPr>
            </a:br>
            <a:r>
              <a:rPr lang="ru-RU" sz="2800" spc="-30" dirty="0">
                <a:latin typeface="Montserrat" pitchFamily="2" charset="-52"/>
                <a:cs typeface="Times New Roman" panose="02020603050405020304" pitchFamily="18" charset="0"/>
              </a:rPr>
              <a:t>	                       </a:t>
            </a:r>
            <a:r>
              <a:rPr lang="ru-RU" sz="2400" spc="-30" dirty="0">
                <a:latin typeface="Montserrat" pitchFamily="2" charset="-52"/>
                <a:cs typeface="Times New Roman" panose="02020603050405020304" pitchFamily="18" charset="0"/>
              </a:rPr>
              <a:t>Дипломник: Селицкий Николай Евгеньевич</a:t>
            </a:r>
            <a:br>
              <a:rPr lang="ru-RU" sz="2400" spc="-30" dirty="0">
                <a:latin typeface="Montserrat" pitchFamily="2" charset="-52"/>
                <a:cs typeface="Times New Roman" panose="02020603050405020304" pitchFamily="18" charset="0"/>
              </a:rPr>
            </a:br>
            <a:r>
              <a:rPr lang="ru-RU" sz="2400" spc="-30" dirty="0">
                <a:latin typeface="Montserrat" pitchFamily="2" charset="-52"/>
                <a:cs typeface="Times New Roman" panose="02020603050405020304" pitchFamily="18" charset="0"/>
              </a:rPr>
              <a:t>		            Руководитель:    </a:t>
            </a:r>
            <a:r>
              <a:rPr lang="ru-RU" sz="2400" spc="-30" dirty="0" err="1">
                <a:latin typeface="Montserrat" pitchFamily="2" charset="-52"/>
                <a:cs typeface="Times New Roman" panose="02020603050405020304" pitchFamily="18" charset="0"/>
              </a:rPr>
              <a:t>ассис</a:t>
            </a:r>
            <a:r>
              <a:rPr lang="ru-RU" sz="2400" spc="-30" dirty="0">
                <a:latin typeface="Montserrat" pitchFamily="2" charset="-52"/>
                <a:cs typeface="Times New Roman" panose="02020603050405020304" pitchFamily="18" charset="0"/>
              </a:rPr>
              <a:t>. </a:t>
            </a:r>
            <a:r>
              <a:rPr lang="ru-RU" sz="2400" spc="-30" dirty="0" err="1">
                <a:latin typeface="Montserrat" pitchFamily="2" charset="-52"/>
                <a:cs typeface="Times New Roman" panose="02020603050405020304" pitchFamily="18" charset="0"/>
              </a:rPr>
              <a:t>Харланович</a:t>
            </a:r>
            <a:r>
              <a:rPr lang="ru-RU" sz="2400" spc="-30" dirty="0">
                <a:latin typeface="Montserrat" pitchFamily="2" charset="-52"/>
                <a:cs typeface="Times New Roman" panose="02020603050405020304" pitchFamily="18" charset="0"/>
              </a:rPr>
              <a:t> Анастасия Владимировна</a:t>
            </a:r>
            <a:r>
              <a:rPr lang="ru-RU" sz="2400" spc="-20" dirty="0">
                <a:latin typeface="Montserrat" pitchFamily="2" charset="-52"/>
                <a:cs typeface="Times New Roman" panose="02020603050405020304" pitchFamily="18" charset="0"/>
              </a:rPr>
              <a:t>			</a:t>
            </a:r>
            <a:r>
              <a:rPr lang="ru-RU" sz="2800" spc="-20" dirty="0">
                <a:latin typeface="Montserrat" pitchFamily="2" charset="-52"/>
                <a:cs typeface="Times New Roman" panose="02020603050405020304" pitchFamily="18" charset="0"/>
              </a:rPr>
              <a:t>       </a:t>
            </a:r>
            <a:br>
              <a:rPr lang="ru-RU" sz="2800" spc="-20" dirty="0">
                <a:latin typeface="Montserrat" pitchFamily="2" charset="-52"/>
                <a:cs typeface="Times New Roman" panose="02020603050405020304" pitchFamily="18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1407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E4242"/>
      </a:accent1>
      <a:accent2>
        <a:srgbClr val="757070"/>
      </a:accent2>
      <a:accent3>
        <a:srgbClr val="A5A5A5"/>
      </a:accent3>
      <a:accent4>
        <a:srgbClr val="FF0101"/>
      </a:accent4>
      <a:accent5>
        <a:srgbClr val="000000"/>
      </a:accent5>
      <a:accent6>
        <a:srgbClr val="000000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17196</TotalTime>
  <Words>723</Words>
  <Application>Microsoft Office PowerPoint</Application>
  <PresentationFormat>Произвольный</PresentationFormat>
  <Paragraphs>163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5" baseType="lpstr">
      <vt:lpstr>Arial</vt:lpstr>
      <vt:lpstr>Calibri</vt:lpstr>
      <vt:lpstr>Calibri Light</vt:lpstr>
      <vt:lpstr>Mongolian Baiti</vt:lpstr>
      <vt:lpstr>Montserrat</vt:lpstr>
      <vt:lpstr>Symbol</vt:lpstr>
      <vt:lpstr>Times New Roman</vt:lpstr>
      <vt:lpstr>Wingdings</vt:lpstr>
      <vt:lpstr>Wingdings</vt:lpstr>
      <vt:lpstr>Тема Office</vt:lpstr>
      <vt:lpstr>Презентация PowerPoint</vt:lpstr>
      <vt:lpstr>Актуальность</vt:lpstr>
      <vt:lpstr>Цель дипломного проекта</vt:lpstr>
      <vt:lpstr>Презентация PowerPoint</vt:lpstr>
      <vt:lpstr>Функциональные возможности приложения</vt:lpstr>
      <vt:lpstr>Логическая схема базы данных</vt:lpstr>
      <vt:lpstr>Архитектура веб-приложения</vt:lpstr>
      <vt:lpstr>Используемые технологии и средства разработки </vt:lpstr>
      <vt:lpstr>Аалгоритм создания аккорда</vt:lpstr>
      <vt:lpstr>Процесс создания паттерна игры</vt:lpstr>
      <vt:lpstr>Тестирование веб-приложения</vt:lpstr>
      <vt:lpstr>Экономическое обоснование стоимости проекта</vt:lpstr>
      <vt:lpstr>Демонстрация проекта</vt:lpstr>
      <vt:lpstr>Заключение</vt:lpstr>
      <vt:lpstr>Презентация PowerPoint</vt:lpstr>
    </vt:vector>
  </TitlesOfParts>
  <Company>SAP Ariba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Ariba Supplier Management Innovation Overview</dc:title>
  <dc:creator>Николай Селицкий</dc:creator>
  <cp:keywords>2016/16:9/white</cp:keywords>
  <cp:lastModifiedBy>Николай Селицкий</cp:lastModifiedBy>
  <cp:revision>771</cp:revision>
  <dcterms:created xsi:type="dcterms:W3CDTF">2015-10-08T14:10:57Z</dcterms:created>
  <dcterms:modified xsi:type="dcterms:W3CDTF">2026-06-01T19:10:46Z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-504340922</vt:i4>
  </property>
  <property fmtid="{D5CDD505-2E9C-101B-9397-08002B2CF9AE}" pid="3" name="_NewReviewCycle">
    <vt:lpwstr/>
  </property>
  <property fmtid="{D5CDD505-2E9C-101B-9397-08002B2CF9AE}" pid="4" name="_EmailSubject">
    <vt:lpwstr>SM breakout session</vt:lpwstr>
  </property>
  <property fmtid="{D5CDD505-2E9C-101B-9397-08002B2CF9AE}" pid="5" name="_AuthorEmail">
    <vt:lpwstr>maria.elena.gammon@sap.com</vt:lpwstr>
  </property>
  <property fmtid="{D5CDD505-2E9C-101B-9397-08002B2CF9AE}" pid="6" name="_AuthorEmailDisplayName">
    <vt:lpwstr>Gammon, Maria Elena</vt:lpwstr>
  </property>
  <property fmtid="{D5CDD505-2E9C-101B-9397-08002B2CF9AE}" pid="7" name="_PreviousAdHocReviewCycleID">
    <vt:i4>-156448419</vt:i4>
  </property>
</Properties>
</file>