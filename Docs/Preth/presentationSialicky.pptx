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7"/>
  </p:notesMasterIdLst>
  <p:handoutMasterIdLst>
    <p:handoutMasterId r:id="rId18"/>
  </p:handoutMasterIdLst>
  <p:sldIdLst>
    <p:sldId id="500" r:id="rId2"/>
    <p:sldId id="542" r:id="rId3"/>
    <p:sldId id="544" r:id="rId4"/>
    <p:sldId id="586" r:id="rId5"/>
    <p:sldId id="581" r:id="rId6"/>
    <p:sldId id="548" r:id="rId7"/>
    <p:sldId id="582" r:id="rId8"/>
    <p:sldId id="546" r:id="rId9"/>
    <p:sldId id="583" r:id="rId10"/>
    <p:sldId id="584" r:id="rId11"/>
    <p:sldId id="575" r:id="rId12"/>
    <p:sldId id="568" r:id="rId13"/>
    <p:sldId id="576" r:id="rId14"/>
    <p:sldId id="560" r:id="rId15"/>
    <p:sldId id="578" r:id="rId16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89" userDrawn="1">
          <p15:clr>
            <a:srgbClr val="A4A3A4"/>
          </p15:clr>
        </p15:guide>
        <p15:guide id="4" orient="horz" pos="3001" userDrawn="1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onebrook, Shannon" initials="SS" lastIdx="7" clrIdx="0">
    <p:extLst/>
  </p:cmAuthor>
  <p:cmAuthor id="2" name="Volha Chekun" initials="VC" lastIdx="36" clrIdx="1">
    <p:extLst>
      <p:ext uri="{19B8F6BF-5375-455C-9EA6-DF929625EA0E}">
        <p15:presenceInfo xmlns:p15="http://schemas.microsoft.com/office/powerpoint/2012/main" userId="S-1-5-21-307287956-644454935-2370743088-19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4E2E2"/>
    <a:srgbClr val="F0AB00"/>
    <a:srgbClr val="003283"/>
    <a:srgbClr val="FF0000"/>
    <a:srgbClr val="666666"/>
    <a:srgbClr val="2B3F7B"/>
    <a:srgbClr val="9C277B"/>
    <a:srgbClr val="D4652D"/>
    <a:srgbClr val="9E3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991" autoAdjust="0"/>
  </p:normalViewPr>
  <p:slideViewPr>
    <p:cSldViewPr snapToGrid="0" showGuides="1">
      <p:cViewPr varScale="1">
        <p:scale>
          <a:sx n="162" d="100"/>
          <a:sy n="162" d="100"/>
        </p:scale>
        <p:origin x="264" y="132"/>
      </p:cViewPr>
      <p:guideLst>
        <p:guide orient="horz" pos="1489"/>
        <p:guide orient="horz" pos="3001"/>
        <p:guide pos="7478"/>
        <p:guide pos="205"/>
        <p:guide pos="3849"/>
        <p:guide pos="4708"/>
        <p:guide pos="4812"/>
        <p:guide pos="2865"/>
        <p:guide pos="2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‹#›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9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04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7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6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2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209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57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065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94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2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71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292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with picture - shor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12000"/>
            <a:ext cx="10620000" cy="276999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800" dirty="0"/>
              <a:t>Speaker’s Name, SAP / Month 00, 2016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9" y="2115530"/>
            <a:ext cx="1477566" cy="28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37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4000" y="1691078"/>
            <a:ext cx="11545200" cy="43920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579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Insert 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0EFEF-2CAD-4A38-B183-5532D8FFC41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Box 8"/>
          <p:cNvSpPr txBox="1"/>
          <p:nvPr userDrawn="1"/>
        </p:nvSpPr>
        <p:spPr bwMode="black">
          <a:xfrm>
            <a:off x="324000" y="6630039"/>
            <a:ext cx="3401577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133200" indent="-133200" algn="l">
              <a:buClr>
                <a:schemeClr val="bg1"/>
              </a:buClr>
              <a:buFont typeface="Arial" pitchFamily="34" charset="0"/>
              <a:buChar char="©"/>
              <a:tabLst/>
            </a:pPr>
            <a:r>
              <a:rPr lang="en-US" sz="900" noProof="0" dirty="0">
                <a:solidFill>
                  <a:schemeClr val="bg1"/>
                </a:solidFill>
              </a:rPr>
              <a:t>2016 SAP SE or an SAP affiliate company. All rights reserved.</a:t>
            </a: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11" name="Information_Classification"/>
          <p:cNvSpPr txBox="1"/>
          <p:nvPr userDrawn="1"/>
        </p:nvSpPr>
        <p:spPr>
          <a:xfrm>
            <a:off x="10718800" y="6623893"/>
            <a:ext cx="500137" cy="1384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sz="900" b="0" i="0" u="none" kern="0" baseline="0" dirty="0">
                <a:solidFill>
                  <a:srgbClr val="FFFFFF"/>
                </a:solidFill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  <a:sym typeface="Arial" panose="020B0604020202020204" pitchFamily="34" charset="0"/>
              </a:rPr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7799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4" r:id="rId14"/>
  </p:sldLayoutIdLst>
  <p:hf sldNum="0"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63528F-7517-49F6-A62B-68EA3872F768}"/>
              </a:ext>
            </a:extLst>
          </p:cNvPr>
          <p:cNvSpPr/>
          <p:nvPr/>
        </p:nvSpPr>
        <p:spPr bwMode="gray">
          <a:xfrm>
            <a:off x="324000" y="162038"/>
            <a:ext cx="11545200" cy="5688256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ru-RU" sz="2000" dirty="0"/>
              <a:t>			</a:t>
            </a:r>
            <a:br>
              <a:rPr lang="ru-RU" dirty="0"/>
            </a:b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00" y="172078"/>
            <a:ext cx="11650530" cy="5944934"/>
          </a:xfrm>
        </p:spPr>
        <p:txBody>
          <a:bodyPr/>
          <a:lstStyle/>
          <a:p>
            <a:pPr algn="ctr"/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МИНИСТЕРСТВО ОБРАЗОВАНИЯ РЕСПУБЛИКИ БЕЛАРУСЬ</a:t>
            </a:r>
            <a:br>
              <a:rPr lang="en-US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Учреждения образования «БЕЛОРУССКИЙ ГОСУДАРСТВЕННЫЙ </a:t>
            </a:r>
            <a:br>
              <a:rPr lang="en-US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ТЕХНОЛОГИЧЕСКИЙ УНИВЕРСИТЕТ»</a:t>
            </a:r>
            <a:b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000" spc="-30" dirty="0">
                <a:latin typeface="Montserrat" pitchFamily="2" charset="-52"/>
                <a:cs typeface="Times New Roman" panose="02020603050405020304" pitchFamily="18" charset="0"/>
              </a:rPr>
              <a:t>Факультет информационных технологий</a:t>
            </a:r>
            <a:br>
              <a:rPr lang="ru-RU" altLang="ru-RU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altLang="ru-RU" sz="2000" spc="-30" dirty="0">
                <a:latin typeface="Montserrat" pitchFamily="2" charset="-52"/>
                <a:cs typeface="Times New Roman" panose="02020603050405020304" pitchFamily="18" charset="0"/>
              </a:rPr>
              <a:t>Кафедра программной инженерии</a:t>
            </a:r>
            <a:b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alt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400" b="1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b="1" spc="-30" dirty="0">
                <a:latin typeface="Montserrat" pitchFamily="2" charset="-52"/>
                <a:cs typeface="Times New Roman" panose="02020603050405020304" pitchFamily="18" charset="0"/>
              </a:rPr>
              <a:t>Тема дипломного проекта:</a:t>
            </a:r>
            <a:b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b="0" spc="-30" dirty="0">
                <a:latin typeface="Montserrat" pitchFamily="2" charset="-52"/>
                <a:cs typeface="Times New Roman" panose="02020603050405020304" pitchFamily="18" charset="0"/>
              </a:rPr>
              <a:t>«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Веб-приложение «Гитарный блокнот</a:t>
            </a:r>
            <a:r>
              <a:rPr lang="en-US" sz="240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r>
              <a:rPr lang="ru-RU" sz="2400" b="0" spc="-30" dirty="0">
                <a:latin typeface="Montserrat" pitchFamily="2" charset="-52"/>
                <a:cs typeface="Times New Roman" panose="02020603050405020304" pitchFamily="18" charset="0"/>
              </a:rPr>
              <a:t>»</a:t>
            </a:r>
            <a:br>
              <a:rPr lang="en-US" sz="2400" b="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400" b="0" spc="-3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en-US" sz="2400" b="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b="0" spc="-30" dirty="0">
                <a:latin typeface="Montserrat" pitchFamily="2" charset="-52"/>
                <a:cs typeface="Times New Roman" panose="02020603050405020304" pitchFamily="18" charset="0"/>
              </a:rPr>
              <a:t>	</a:t>
            </a:r>
            <a:r>
              <a:rPr lang="ru-RU" sz="2400" spc="-30" dirty="0">
                <a:latin typeface="Montserrat" pitchFamily="2" charset="-52"/>
                <a:cs typeface="Times New Roman" panose="02020603050405020304" pitchFamily="18" charset="0"/>
              </a:rPr>
              <a:t>                       </a:t>
            </a: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Дипломник: Селицкий Николай Евгеньевич</a:t>
            </a:r>
            <a:b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				  Руководитель:    </a:t>
            </a:r>
            <a:r>
              <a:rPr lang="ru-RU" sz="2000" spc="-30" dirty="0" err="1">
                <a:latin typeface="Montserrat" pitchFamily="2" charset="-52"/>
                <a:cs typeface="Times New Roman" panose="02020603050405020304" pitchFamily="18" charset="0"/>
              </a:rPr>
              <a:t>ассис</a:t>
            </a: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. </a:t>
            </a:r>
            <a:r>
              <a:rPr lang="ru-RU" sz="2000" spc="-30" dirty="0" err="1">
                <a:latin typeface="Montserrat" pitchFamily="2" charset="-52"/>
                <a:cs typeface="Times New Roman" panose="02020603050405020304" pitchFamily="18" charset="0"/>
              </a:rPr>
              <a:t>Харланович</a:t>
            </a:r>
            <a:r>
              <a:rPr lang="ru-RU" sz="2000" spc="-30" dirty="0">
                <a:latin typeface="Montserrat" pitchFamily="2" charset="-52"/>
                <a:cs typeface="Times New Roman" panose="02020603050405020304" pitchFamily="18" charset="0"/>
              </a:rPr>
              <a:t> Анастасия Владимировна</a:t>
            </a:r>
            <a:r>
              <a:rPr lang="ru-RU" sz="2000" spc="-20" dirty="0">
                <a:latin typeface="Montserrat" pitchFamily="2" charset="-52"/>
                <a:cs typeface="Times New Roman" panose="02020603050405020304" pitchFamily="18" charset="0"/>
              </a:rPr>
              <a:t>				     	</a:t>
            </a:r>
            <a:b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en-US" sz="2400" spc="-20" dirty="0">
                <a:latin typeface="Montserrat" pitchFamily="2" charset="-52"/>
                <a:cs typeface="Times New Roman" panose="02020603050405020304" pitchFamily="18" charset="0"/>
              </a:rPr>
              <a:t>                                   </a:t>
            </a:r>
            <a:b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</a:br>
            <a: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  <a:t>       </a:t>
            </a:r>
            <a:b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</a:br>
            <a:br>
              <a:rPr lang="ru-RU" sz="2400" spc="-20" dirty="0">
                <a:latin typeface="Montserrat" pitchFamily="2" charset="-52"/>
                <a:cs typeface="Times New Roman" panose="02020603050405020304" pitchFamily="18" charset="0"/>
              </a:rPr>
            </a:br>
            <a:endParaRPr lang="en-US" sz="1200" spc="-20" dirty="0">
              <a:latin typeface="Montserrat" pitchFamily="2" charset="-52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0DD81-2FD7-4C5A-B58B-8FF0F815BC38}"/>
              </a:ext>
            </a:extLst>
          </p:cNvPr>
          <p:cNvSpPr/>
          <p:nvPr/>
        </p:nvSpPr>
        <p:spPr bwMode="gray">
          <a:xfrm>
            <a:off x="323999" y="5850294"/>
            <a:ext cx="11545201" cy="1009294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ru-RU" sz="2000" b="0" i="0" u="none" strike="noStrike" kern="0" cap="none" spc="-30" normalizeH="0" baseline="0" noProof="0" dirty="0">
                <a:ln>
                  <a:noFill/>
                </a:ln>
                <a:effectLst/>
                <a:uLnTx/>
                <a:uFillTx/>
                <a:latin typeface="Montserrat" pitchFamily="2" charset="-52"/>
                <a:ea typeface="Arial Unicode MS" pitchFamily="34" charset="-128"/>
                <a:cs typeface="Times New Roman" panose="02020603050405020304" pitchFamily="18" charset="0"/>
              </a:rPr>
              <a:t>Минск</a:t>
            </a:r>
            <a:r>
              <a:rPr kumimoji="0" lang="ru-RU" sz="2000" b="0" i="0" u="none" strike="noStrike" kern="0" cap="none" spc="-30" normalizeH="0" noProof="0" dirty="0">
                <a:ln>
                  <a:noFill/>
                </a:ln>
                <a:effectLst/>
                <a:uLnTx/>
                <a:uFillTx/>
                <a:latin typeface="Montserrat" pitchFamily="2" charset="-52"/>
                <a:ea typeface="Arial Unicode MS" pitchFamily="34" charset="-128"/>
                <a:cs typeface="Times New Roman" panose="02020603050405020304" pitchFamily="18" charset="0"/>
              </a:rPr>
              <a:t> 2026</a:t>
            </a:r>
            <a:endParaRPr kumimoji="0" lang="en-US" sz="2000" b="0" i="0" u="none" strike="noStrike" kern="0" cap="none" spc="-30" normalizeH="0" baseline="0" noProof="0" dirty="0" err="1">
              <a:ln>
                <a:noFill/>
              </a:ln>
              <a:effectLst/>
              <a:uLnTx/>
              <a:uFillTx/>
              <a:latin typeface="Montserrat" pitchFamily="2" charset="-52"/>
              <a:ea typeface="Arial Unicode MS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4000" y="1856509"/>
            <a:ext cx="1643345" cy="895927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41" y="5943251"/>
            <a:ext cx="778408" cy="86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8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757" y="329429"/>
            <a:ext cx="3642397" cy="64970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Актуальность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58588" y="1194118"/>
            <a:ext cx="5566724" cy="4370832"/>
          </a:xfrm>
          <a:prstGeom prst="rect">
            <a:avLst/>
          </a:prstGeom>
        </p:spPr>
        <p:txBody>
          <a:bodyPr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рост числа гитаристов-самоучек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необходимость в хранении песен в доступном месте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растущее количество новых песен, которые гитаристы ищут для игры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большое количество опытных гитаристов любящих делиться своим опытом</a:t>
            </a:r>
          </a:p>
          <a:p>
            <a:pPr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2"/>
              </a:buBlip>
            </a:pPr>
            <a:r>
              <a:rPr lang="ru-RU" sz="2200" spc="-20" dirty="0">
                <a:latin typeface="Montserrat" pitchFamily="2" charset="-52"/>
              </a:rPr>
              <a:t>потребность в централизованной системе для работы со своими и чужими песнями </a:t>
            </a:r>
            <a:endParaRPr lang="ru-RU" sz="2200" spc="-20" dirty="0">
              <a:latin typeface="Montserrat" pitchFamily="2" charset="-52"/>
              <a:cs typeface="Times New Roman" panose="020206030504050203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41B817D-CAE6-4BE7-8F60-6E1203E4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737" y="654282"/>
            <a:ext cx="5095681" cy="509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5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459" y="192889"/>
            <a:ext cx="10518338" cy="84343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Цель</a:t>
            </a:r>
            <a:r>
              <a:rPr lang="ru-RU" sz="2800" dirty="0">
                <a:latin typeface="Montserrat" pitchFamily="2" charset="-52"/>
              </a:rPr>
              <a:t> 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дипломного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23459" y="1245524"/>
            <a:ext cx="11272301" cy="13835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/>
              <a:t>Целью работы является разработка веб-приложения для создания, хранения и совместного использования гитарных партий, аккордов, паттернов боя и альбомов. </a:t>
            </a:r>
            <a:endParaRPr lang="en-US" sz="2200" spc="-10" dirty="0">
              <a:latin typeface="Montserrat" pitchFamily="2" charset="-52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25059" y="2838242"/>
            <a:ext cx="10518338" cy="901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Задачи дипломного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523459" y="3687375"/>
            <a:ext cx="11356756" cy="2370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произвести аналитический обзор аналогичных решений;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спроектировать архитектуру приложения и базы данных;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реализовать серверную и клиентскую часть приложения;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произвести тестирование работоспособности приложения;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разработать руководство пользователя;  </a:t>
            </a:r>
          </a:p>
          <a:p>
            <a:pPr>
              <a:spcBef>
                <a:spcPts val="0"/>
              </a:spcBef>
              <a:spcAft>
                <a:spcPts val="600"/>
              </a:spcAft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выполнить технико-экономическое обоснование проекта.</a:t>
            </a:r>
            <a:endParaRPr lang="en-US" sz="2200" dirty="0">
              <a:latin typeface="Montserrat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7561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itchFamily="2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10987" y="2059333"/>
            <a:ext cx="7338997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US" sz="1800" dirty="0">
              <a:effectLst/>
              <a:latin typeface="Montserrat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34295" y="287562"/>
            <a:ext cx="4435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Прототипы и аналоги</a:t>
            </a:r>
            <a:endParaRPr lang="ru-RU" sz="28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673203"/>
              </p:ext>
            </p:extLst>
          </p:nvPr>
        </p:nvGraphicFramePr>
        <p:xfrm>
          <a:off x="311394" y="810782"/>
          <a:ext cx="11464608" cy="520185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29012">
                  <a:extLst>
                    <a:ext uri="{9D8B030D-6E8A-4147-A177-3AD203B41FA5}">
                      <a16:colId xmlns:a16="http://schemas.microsoft.com/office/drawing/2014/main" val="1234055935"/>
                    </a:ext>
                  </a:extLst>
                </a:gridCol>
                <a:gridCol w="2337782">
                  <a:extLst>
                    <a:ext uri="{9D8B030D-6E8A-4147-A177-3AD203B41FA5}">
                      <a16:colId xmlns:a16="http://schemas.microsoft.com/office/drawing/2014/main" val="1389621893"/>
                    </a:ext>
                  </a:extLst>
                </a:gridCol>
                <a:gridCol w="790514">
                  <a:extLst>
                    <a:ext uri="{9D8B030D-6E8A-4147-A177-3AD203B41FA5}">
                      <a16:colId xmlns:a16="http://schemas.microsoft.com/office/drawing/2014/main" val="1800386976"/>
                    </a:ext>
                  </a:extLst>
                </a:gridCol>
                <a:gridCol w="820010">
                  <a:extLst>
                    <a:ext uri="{9D8B030D-6E8A-4147-A177-3AD203B41FA5}">
                      <a16:colId xmlns:a16="http://schemas.microsoft.com/office/drawing/2014/main" val="4250081446"/>
                    </a:ext>
                  </a:extLst>
                </a:gridCol>
                <a:gridCol w="2625213">
                  <a:extLst>
                    <a:ext uri="{9D8B030D-6E8A-4147-A177-3AD203B41FA5}">
                      <a16:colId xmlns:a16="http://schemas.microsoft.com/office/drawing/2014/main" val="781952316"/>
                    </a:ext>
                  </a:extLst>
                </a:gridCol>
                <a:gridCol w="2862077">
                  <a:extLst>
                    <a:ext uri="{9D8B030D-6E8A-4147-A177-3AD203B41FA5}">
                      <a16:colId xmlns:a16="http://schemas.microsoft.com/office/drawing/2014/main" val="282109689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Веб-приложение «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Ultimate</a:t>
                      </a:r>
                      <a:r>
                        <a:rPr lang="ru-RU" sz="2200" b="0" i="1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Guitar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200" b="0" kern="1200" dirty="0">
                        <a:solidFill>
                          <a:schemeClr val="tx1"/>
                        </a:solidFill>
                        <a:latin typeface="Montserrat" pitchFamily="2" charset="-52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b="0" kern="120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Веб-приложение «</a:t>
                      </a:r>
                      <a:r>
                        <a:rPr lang="ru-RU" sz="2200" b="0" i="1" kern="1200" dirty="0" err="1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Songsterr</a:t>
                      </a:r>
                      <a:r>
                        <a:rPr lang="ru-RU" sz="2200" b="0" dirty="0">
                          <a:solidFill>
                            <a:schemeClr val="tx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»</a:t>
                      </a:r>
                      <a:endParaRPr lang="en-US" sz="2200" b="0" dirty="0">
                        <a:solidFill>
                          <a:schemeClr val="tx1"/>
                        </a:solidFill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427671"/>
                  </a:ext>
                </a:extLst>
              </a:tr>
              <a:tr h="2280850">
                <a:tc gridSpan="2">
                  <a:txBody>
                    <a:bodyPr/>
                    <a:lstStyle/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  <a:p>
                      <a:endParaRPr lang="ru-RU" sz="1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sz="1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513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dirty="0">
                          <a:latin typeface="Montserrat" pitchFamily="2" charset="-52"/>
                        </a:rPr>
                        <a:t>      </a:t>
                      </a:r>
                      <a:r>
                        <a:rPr lang="ru-RU" sz="1600" u="sng" dirty="0">
                          <a:latin typeface="Montserrat" pitchFamily="2" charset="-52"/>
                        </a:rPr>
                        <a:t>Плюсы</a:t>
                      </a:r>
                      <a:endParaRPr lang="ru-RU" sz="1800" u="sng" dirty="0">
                        <a:latin typeface="Montserrat" pitchFamily="2" charset="-52"/>
                      </a:endParaRPr>
                    </a:p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ru-RU" sz="1800" dirty="0"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простота использования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удобная возможность создавать наборы аккордов 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удобная привязка аккорда к тексту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dirty="0">
                          <a:latin typeface="Montserrat" pitchFamily="2" charset="-52"/>
                        </a:rPr>
                        <a:t>    </a:t>
                      </a:r>
                      <a:r>
                        <a:rPr lang="ru-RU" sz="1600" u="sng" dirty="0">
                          <a:latin typeface="Montserrat" pitchFamily="2" charset="-52"/>
                        </a:rPr>
                        <a:t>Минусы</a:t>
                      </a:r>
                      <a:endParaRPr lang="ru-RU" sz="1800" u="sng" dirty="0">
                        <a:latin typeface="Montserrat" pitchFamily="2" charset="-52"/>
                      </a:endParaRPr>
                    </a:p>
                    <a:p>
                      <a:endParaRPr lang="ru-RU" dirty="0"/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неудобное отображение паттерна игры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возможности создавать свою песню</a:t>
                      </a:r>
                    </a:p>
                    <a:p>
                      <a:endParaRPr lang="ru-RU" dirty="0"/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1400" kern="1200" noProof="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effectLst/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u="sng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Плюсы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ru-RU" sz="2400"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удобный интерфейс отображения паттерном игры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возможность выбирать разные паттерны игры </a:t>
                      </a:r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есть возможность прослушивать песни 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>
                          <a:latin typeface="Montserrat" pitchFamily="2" charset="-52"/>
                        </a:rPr>
                        <a:t> </a:t>
                      </a:r>
                      <a:r>
                        <a:rPr lang="ru-RU" sz="1600" u="sng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Минусы</a:t>
                      </a:r>
                    </a:p>
                    <a:p>
                      <a:endParaRPr lang="ru-RU" sz="1400"/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плохая оптимизация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возможности сохранять песни в альбомы </a:t>
                      </a:r>
                    </a:p>
                    <a:p>
                      <a:pPr marL="285750" indent="-285750" algn="l" defTabSz="914583" rtl="0" eaLnBrk="1" latinLnBrk="0" hangingPunct="1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400" kern="1200" noProof="0">
                          <a:solidFill>
                            <a:schemeClr val="dk1"/>
                          </a:solidFill>
                          <a:latin typeface="Montserrat" pitchFamily="2" charset="-52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избранного</a:t>
                      </a:r>
                      <a:endParaRPr lang="ru-RU" sz="1400" kern="1200" noProof="0" dirty="0">
                        <a:solidFill>
                          <a:schemeClr val="dk1"/>
                        </a:solidFill>
                        <a:latin typeface="Montserrat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042943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BEBBB0-9BDE-4A62-8DBA-F8DD1C6FF3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21286" y="1483865"/>
            <a:ext cx="4093119" cy="15618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9D19859-561F-4C0D-A08B-3FF1766BAF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48644" y="1483865"/>
            <a:ext cx="5082138" cy="15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0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4296" y="115513"/>
            <a:ext cx="10518338" cy="81812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Диаграмма вариантов использования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7201204" y="1942224"/>
            <a:ext cx="4209357" cy="2561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4</a:t>
            </a:r>
            <a:r>
              <a:rPr lang="ru-RU" sz="2200" dirty="0">
                <a:latin typeface="Montserrat" pitchFamily="2" charset="-52"/>
              </a:rPr>
              <a:t> роли</a:t>
            </a:r>
            <a:r>
              <a:rPr lang="en-US" sz="2200" dirty="0">
                <a:latin typeface="Montserrat" pitchFamily="2" charset="-52"/>
              </a:rPr>
              <a:t> </a:t>
            </a:r>
            <a:r>
              <a:rPr lang="ru-RU" sz="2200" dirty="0">
                <a:latin typeface="Montserrat" pitchFamily="2" charset="-52"/>
              </a:rPr>
              <a:t>пользователей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5</a:t>
            </a:r>
            <a:r>
              <a:rPr lang="ru-RU" sz="2200" dirty="0">
                <a:latin typeface="Montserrat" pitchFamily="2" charset="-52"/>
              </a:rPr>
              <a:t> функций гостя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16</a:t>
            </a:r>
            <a:r>
              <a:rPr lang="ru-RU" sz="2200" dirty="0">
                <a:latin typeface="Montserrat" pitchFamily="2" charset="-52"/>
              </a:rPr>
              <a:t> функций гитариста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16</a:t>
            </a:r>
            <a:r>
              <a:rPr lang="ru-RU" sz="2200" dirty="0">
                <a:latin typeface="Montserrat" pitchFamily="2" charset="-52"/>
              </a:rPr>
              <a:t> функций премиума</a:t>
            </a:r>
            <a:endParaRPr lang="ru-RU" sz="2200" b="1" dirty="0">
              <a:latin typeface="Montserrat" pitchFamily="2" charset="-52"/>
            </a:endParaRP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b="1" dirty="0">
                <a:latin typeface="Montserrat" pitchFamily="2" charset="-52"/>
              </a:rPr>
              <a:t>12</a:t>
            </a:r>
            <a:r>
              <a:rPr lang="ru-RU" sz="2200" dirty="0">
                <a:latin typeface="Montserrat" pitchFamily="2" charset="-52"/>
              </a:rPr>
              <a:t> функций администратора</a:t>
            </a:r>
          </a:p>
          <a:p>
            <a:pPr marL="228646" indent="-228646" defTabSz="914583">
              <a:lnSpc>
                <a:spcPct val="90000"/>
              </a:lnSpc>
              <a:spcAft>
                <a:spcPts val="1000"/>
              </a:spcAft>
              <a:buSzPct val="100000"/>
              <a:buBlip>
                <a:blip r:embed="rId2"/>
              </a:buBlip>
              <a:defRPr/>
            </a:pPr>
            <a:r>
              <a:rPr lang="ru-RU" sz="2200" dirty="0">
                <a:latin typeface="Montserrat" pitchFamily="2" charset="-52"/>
              </a:rPr>
              <a:t>Всего </a:t>
            </a:r>
            <a:r>
              <a:rPr lang="ru-RU" sz="2200" b="1" dirty="0">
                <a:latin typeface="Montserrat" pitchFamily="2" charset="-52"/>
              </a:rPr>
              <a:t>27</a:t>
            </a:r>
            <a:r>
              <a:rPr lang="ru-RU" sz="2200" dirty="0">
                <a:latin typeface="Montserrat" pitchFamily="2" charset="-52"/>
              </a:rPr>
              <a:t> функций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0E954C-052F-4BF7-B0D6-3F74E1DE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04" y="872097"/>
            <a:ext cx="5494196" cy="52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5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503" y="200098"/>
            <a:ext cx="10518338" cy="65387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Логическая схема базы данных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2C853B-8505-4550-8347-76290FCD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34" y="772623"/>
            <a:ext cx="9474524" cy="560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2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3613" y="149088"/>
            <a:ext cx="10977661" cy="755374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Диаграмма развертывания веб-приложения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B06568-AA2B-4AEB-92F8-B9D4A26E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57" y="837712"/>
            <a:ext cx="10701430" cy="566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4730" y="15667"/>
            <a:ext cx="11291350" cy="1047030"/>
          </a:xfrm>
        </p:spPr>
        <p:txBody>
          <a:bodyPr>
            <a:normAutofit/>
          </a:bodyPr>
          <a:lstStyle/>
          <a:p>
            <a:r>
              <a:rPr lang="ru-RU" sz="2800" b="1" spc="-30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Используемые технологии и средства разработки </a:t>
            </a:r>
            <a:endParaRPr lang="en-US" sz="2800" b="1" spc="-30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020354"/>
              </p:ext>
            </p:extLst>
          </p:nvPr>
        </p:nvGraphicFramePr>
        <p:xfrm>
          <a:off x="1951095" y="867288"/>
          <a:ext cx="8292985" cy="4935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453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107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-52"/>
                        </a:rPr>
                        <a:t>Версия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ASP.NET Core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REST API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аутентификации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серверной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бизнес-логики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ru-RU" sz="1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Реляционная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СУБД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хранения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пользователей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музыкального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контента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Entity Framework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ORM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к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данным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миграций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схемы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базы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построения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пользовательского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интерфейса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6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Next.js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React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веб-приложения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маршрутизации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16.0.1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250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Типизированный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язык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части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7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Tailwind 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CSS-</a:t>
                      </a: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оформления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адаптивного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интерфейса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5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MediatR</a:t>
                      </a:r>
                      <a:endParaRPr lang="en-US" sz="1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Библиотека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CQRS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обработка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команд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запросов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сервере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14.1.0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6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JWT Bearer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Аутентификация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пользователей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JWT-</a:t>
                      </a:r>
                      <a:r>
                        <a:rPr lang="en-US" sz="1400" i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токенам</a:t>
                      </a:r>
                      <a:endParaRPr lang="en-US" sz="1400" i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03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Среда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выполнения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для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сборки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разработки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клиентской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части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710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Контейнеризация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backend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i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frontend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базы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данных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59072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872EE4-51C6-4F36-AC96-9410B588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56899">
            <a:off x="590665" y="1133734"/>
            <a:ext cx="1067842" cy="106784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B99A8FE-9527-4517-B85E-44AF6DC50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69651">
            <a:off x="10565847" y="4076262"/>
            <a:ext cx="1198682" cy="10260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0E74F12-84CB-4F42-9BA9-BD948B260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092" y="2543399"/>
            <a:ext cx="1026032" cy="102603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D2A474-1DF2-4FCD-B80B-C1C03CF8E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61368">
            <a:off x="484529" y="4691033"/>
            <a:ext cx="1187970" cy="118797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EFF3EE5-29B2-4C8C-A2E1-030FCAFE2A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790483">
            <a:off x="10641794" y="922215"/>
            <a:ext cx="1111329" cy="114652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D8C95B0-9469-4473-AA75-0CA754E8C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98089">
            <a:off x="496629" y="3091859"/>
            <a:ext cx="866520" cy="77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9014" y="167377"/>
            <a:ext cx="10977661" cy="736919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Блок-схема алгоритма создания аккорда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E6DBD7-AA6A-4DD5-B184-DCE86242E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87" y="1361921"/>
            <a:ext cx="11169188" cy="41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1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0571" y="164515"/>
            <a:ext cx="11256901" cy="777317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Диаграмма последовательности создания паттерна игры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74782C-16B7-4EAF-82EE-FBB2C1A75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03" y="831808"/>
            <a:ext cx="8298937" cy="54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2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290" y="130916"/>
            <a:ext cx="11170702" cy="72191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/>
                <a:cs typeface="Arial" panose="020B0604020202020204" pitchFamily="34" charset="0"/>
              </a:rPr>
              <a:t>Тестирование веб-приложения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6100256"/>
              </p:ext>
            </p:extLst>
          </p:nvPr>
        </p:nvGraphicFramePr>
        <p:xfrm>
          <a:off x="358589" y="2778761"/>
          <a:ext cx="11447332" cy="309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512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733256880"/>
                    </a:ext>
                  </a:extLst>
                </a:gridCol>
                <a:gridCol w="1239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226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latin typeface="Montserrat" pitchFamily="2" charset="-52"/>
                        </a:rPr>
                        <a:t>Тестируемая функция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kern="1200" dirty="0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Шаги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 kern="1200" dirty="0">
                          <a:solidFill>
                            <a:schemeClr val="lt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Ожидаемый результат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>
                          <a:latin typeface="Montserrat" pitchFamily="2" charset="-52"/>
                        </a:rPr>
                        <a:t>Результат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1186"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Написать отзыв и поставить оценки песен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1. Открыть страницу со списками песен.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2. Выбрать чужую песню.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3. Пролистать страницу просмотра песни в самый низ.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4. Написать отзыв и выставить оценку песне.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5. Нажать на кнопку </a:t>
                      </a:r>
                      <a:r>
                        <a:rPr lang="en-US" sz="1500" dirty="0">
                          <a:latin typeface="Montserrat" pitchFamily="2" charset="-52"/>
                        </a:rPr>
                        <a:t>«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Submit</a:t>
                      </a:r>
                      <a:r>
                        <a:rPr lang="ru-RU" sz="1500" i="1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US" sz="1500" dirty="0">
                          <a:latin typeface="Montserrat" pitchFamily="2" charset="-52"/>
                        </a:rPr>
                        <a:t>»</a:t>
                      </a:r>
                      <a:r>
                        <a:rPr lang="ru-RU" sz="1500" dirty="0">
                          <a:latin typeface="Montserrat" pitchFamily="2" charset="-52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Новый отзыв отображается в списке отзывов песни.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Успешно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1271186"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Блокировка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1. Авторизоваться как «Администратор».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2. Перейти на страницу управления пользователями.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3. Найти нужного пользователя через поисковую строку или в списке.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4. Нажать на «</a:t>
                      </a:r>
                      <a:r>
                        <a:rPr lang="ru-RU" sz="1500" i="1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Block</a:t>
                      </a:r>
                      <a:r>
                        <a:rPr lang="ru-RU" sz="1500" dirty="0">
                          <a:latin typeface="Montserrat" pitchFamily="2" charset="-52"/>
                        </a:rPr>
                        <a:t>».</a:t>
                      </a:r>
                    </a:p>
                    <a:p>
                      <a:r>
                        <a:rPr lang="ru-RU" sz="1500" dirty="0">
                          <a:latin typeface="Montserrat" pitchFamily="2" charset="-52"/>
                        </a:rPr>
                        <a:t>5. Ввести причину и время блокировки пользователя и подтвердить блокировку.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>
                          <a:latin typeface="Montserrat" pitchFamily="2" charset="-52"/>
                        </a:rPr>
                        <a:t>Выбранный пользователь будет заблокирован.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kern="1200" dirty="0">
                          <a:solidFill>
                            <a:schemeClr val="dk1"/>
                          </a:solidFill>
                          <a:effectLst/>
                          <a:latin typeface="Montserrat" pitchFamily="2" charset="-52"/>
                          <a:ea typeface="+mn-ea"/>
                          <a:cs typeface="+mn-cs"/>
                        </a:rPr>
                        <a:t>Успешно</a:t>
                      </a:r>
                      <a:endParaRPr lang="ru-RU" sz="1500" dirty="0">
                        <a:latin typeface="Montserrat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58588" y="1053046"/>
            <a:ext cx="11254292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Тестирование </a:t>
            </a:r>
            <a:r>
              <a:rPr lang="en-US" sz="2200" i="1" dirty="0">
                <a:latin typeface="Montserrat" pitchFamily="2" charset="-52"/>
              </a:rPr>
              <a:t>API</a:t>
            </a:r>
            <a:r>
              <a:rPr lang="en-US" sz="2200" dirty="0">
                <a:latin typeface="Montserrat" pitchFamily="2" charset="-52"/>
              </a:rPr>
              <a:t> </a:t>
            </a:r>
            <a:r>
              <a:rPr lang="ru-RU" sz="2200" dirty="0">
                <a:latin typeface="Montserrat" pitchFamily="2" charset="-52"/>
              </a:rPr>
              <a:t>через </a:t>
            </a:r>
            <a:r>
              <a:rPr lang="en-US" sz="2200" i="1" dirty="0">
                <a:latin typeface="Montserrat" pitchFamily="2" charset="-52"/>
              </a:rPr>
              <a:t>Swagger</a:t>
            </a:r>
            <a:r>
              <a:rPr lang="en-US" sz="2200" dirty="0">
                <a:latin typeface="Montserrat" pitchFamily="2" charset="-52"/>
              </a:rPr>
              <a:t> →</a:t>
            </a:r>
            <a:r>
              <a:rPr lang="ru-RU" sz="2200" dirty="0">
                <a:latin typeface="Montserrat" pitchFamily="2" charset="-52"/>
              </a:rPr>
              <a:t> проверена </a:t>
            </a:r>
            <a:r>
              <a:rPr lang="en-US" sz="2200" b="1" dirty="0">
                <a:latin typeface="Montserrat" pitchFamily="2" charset="-52"/>
              </a:rPr>
              <a:t>86</a:t>
            </a:r>
            <a:r>
              <a:rPr lang="ru-RU" sz="2200" dirty="0">
                <a:latin typeface="Montserrat" pitchFamily="2" charset="-52"/>
              </a:rPr>
              <a:t> конечных точек </a:t>
            </a:r>
            <a:r>
              <a:rPr lang="en-US" sz="2200" dirty="0">
                <a:latin typeface="Montserrat" pitchFamily="2" charset="-52"/>
              </a:rPr>
              <a:t>API</a:t>
            </a:r>
            <a:r>
              <a:rPr lang="ru-RU" sz="2200" dirty="0">
                <a:latin typeface="Montserrat" pitchFamily="2" charset="-52"/>
              </a:rPr>
              <a:t>.</a:t>
            </a:r>
            <a:r>
              <a:rPr lang="en-US" sz="2200" dirty="0">
                <a:latin typeface="Montserrat" pitchFamily="2" charset="-52"/>
              </a:rPr>
              <a:t> </a:t>
            </a:r>
            <a:endParaRPr lang="ru-RU" sz="2200" dirty="0">
              <a:latin typeface="Montserrat" pitchFamily="2" charset="-52"/>
            </a:endParaRPr>
          </a:p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Функциональное тестирование </a:t>
            </a:r>
            <a:r>
              <a:rPr lang="en-US" sz="2200" dirty="0">
                <a:latin typeface="Montserrat" pitchFamily="2" charset="-52"/>
              </a:rPr>
              <a:t>→</a:t>
            </a:r>
            <a:r>
              <a:rPr lang="ru-RU" sz="2200" dirty="0">
                <a:latin typeface="Montserrat" pitchFamily="2" charset="-52"/>
              </a:rPr>
              <a:t> протестировано </a:t>
            </a:r>
            <a:r>
              <a:rPr lang="ru-RU" sz="2200" b="1" dirty="0">
                <a:latin typeface="Montserrat" pitchFamily="2" charset="-52"/>
              </a:rPr>
              <a:t>27</a:t>
            </a:r>
            <a:r>
              <a:rPr lang="ru-RU" sz="2200" dirty="0">
                <a:latin typeface="Montserrat" pitchFamily="2" charset="-52"/>
              </a:rPr>
              <a:t> функций.</a:t>
            </a:r>
          </a:p>
          <a:p>
            <a:pPr marL="228646" indent="-228646" defTabSz="914583">
              <a:lnSpc>
                <a:spcPct val="90000"/>
              </a:lnSpc>
              <a:buSzPct val="100000"/>
              <a:buBlip>
                <a:blip r:embed="rId2"/>
              </a:buBlip>
            </a:pPr>
            <a:r>
              <a:rPr lang="ru-RU" sz="2200" dirty="0">
                <a:latin typeface="Montserrat" pitchFamily="2" charset="-52"/>
              </a:rPr>
              <a:t>Модульное тестирование </a:t>
            </a:r>
            <a:r>
              <a:rPr lang="en-US" sz="2200" dirty="0">
                <a:latin typeface="Montserrat" pitchFamily="2" charset="-52"/>
              </a:rPr>
              <a:t>→</a:t>
            </a:r>
            <a:r>
              <a:rPr lang="ru-RU" sz="2200" dirty="0">
                <a:latin typeface="Montserrat" pitchFamily="2" charset="-52"/>
              </a:rPr>
              <a:t> протестировано </a:t>
            </a:r>
            <a:r>
              <a:rPr lang="ru-RU" sz="2200" b="1" dirty="0">
                <a:latin typeface="Montserrat" pitchFamily="2" charset="-52"/>
              </a:rPr>
              <a:t>27 </a:t>
            </a:r>
            <a:r>
              <a:rPr lang="ru-RU" sz="2200" dirty="0">
                <a:latin typeface="Montserrat" pitchFamily="2" charset="-52"/>
              </a:rPr>
              <a:t>функций.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58588" y="2345550"/>
            <a:ext cx="11254292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583">
              <a:lnSpc>
                <a:spcPct val="90000"/>
              </a:lnSpc>
              <a:buSzPct val="100000"/>
            </a:pPr>
            <a:r>
              <a:rPr lang="ru-RU" sz="2200" dirty="0">
                <a:latin typeface="Montserrat" pitchFamily="2" charset="-52"/>
              </a:rPr>
              <a:t>Фрагмент таблицы с тест-кейсами:  </a:t>
            </a:r>
          </a:p>
        </p:txBody>
      </p:sp>
    </p:spTree>
    <p:extLst>
      <p:ext uri="{BB962C8B-B14F-4D97-AF65-F5344CB8AC3E}">
        <p14:creationId xmlns:p14="http://schemas.microsoft.com/office/powerpoint/2010/main" val="3119382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8718176-26FF-4F33-BC69-6ED7897F4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590910">
            <a:off x="10549072" y="1431963"/>
            <a:ext cx="914400" cy="9144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339" y="82396"/>
            <a:ext cx="9128541" cy="801524"/>
          </a:xfrm>
        </p:spPr>
        <p:txBody>
          <a:bodyPr>
            <a:normAutofit/>
          </a:bodyPr>
          <a:lstStyle/>
          <a:p>
            <a:r>
              <a:rPr lang="ru-RU" sz="31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Экономическое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 обоснование стоимости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489175"/>
              </p:ext>
            </p:extLst>
          </p:nvPr>
        </p:nvGraphicFramePr>
        <p:xfrm>
          <a:off x="1805204" y="833120"/>
          <a:ext cx="8584768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7760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</a:tblGrid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latin typeface="Montserrat" pitchFamily="2" charset="-52"/>
                        </a:rPr>
                        <a:t>Наименование показателя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>
                          <a:latin typeface="Montserrat" pitchFamily="2" charset="-52"/>
                        </a:rPr>
                        <a:t>Значение</a:t>
                      </a:r>
                      <a:endParaRPr lang="ru-RU" sz="1400" dirty="0">
                        <a:latin typeface="Montserrat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Время разработки, чел.-часов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</a:pPr>
                      <a:r>
                        <a:rPr lang="ru-RU" sz="1400" dirty="0">
                          <a:latin typeface="Montserrat" pitchFamily="2" charset="-52"/>
                        </a:rPr>
                        <a:t>Основная заработная плата,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9 269,88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76145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Дополнительная заработная плата,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1 112,39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Отчисления в Фонд социальной защиты населения,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3 529,97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16014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Отчисления в БРУСП «</a:t>
                      </a:r>
                      <a:r>
                        <a:rPr lang="ru-RU" sz="1400" kern="1200" dirty="0" err="1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Белгосстрах</a:t>
                      </a: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»,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62,29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250259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Прочие прямые затраты,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2 317,47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172936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Накладные расходы,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4 078,75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350244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Себестоимость разработки программного средства,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20 370,75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74937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Расходы на сопровождение и адаптацию,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2 037,08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88705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Полная себестоимость,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22 407,82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826352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marR="0" lvl="0" indent="0" algn="l" defTabSz="9145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Рентабельность проекта,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40,94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624406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Чистая прибыль,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7 338,17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459407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Цена программного средства без НДС,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31 580,53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64334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Прибыль от реализации, руб.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defTabSz="914583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Montserrat" pitchFamily="2" charset="-52"/>
                          <a:ea typeface="+mn-ea"/>
                          <a:cs typeface="+mn-cs"/>
                        </a:rPr>
                        <a:t>9 172,71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4903329"/>
                  </a:ext>
                </a:extLst>
              </a:tr>
            </a:tbl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1953974-3B55-4984-B00D-E7DE6D4D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11236320" y="2153732"/>
            <a:ext cx="914400" cy="9144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6C82C96-A4A8-4F73-93F9-B1B8612D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623062" y="745591"/>
            <a:ext cx="914400" cy="9144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85B2682-2E5D-4AE5-9DAD-5DA596875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10688693" y="4009318"/>
            <a:ext cx="914400" cy="9144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52A1154-209B-4290-AEFC-FFA35669C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452">
            <a:off x="229852" y="4834271"/>
            <a:ext cx="914400" cy="914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FA1736D-C1A6-42B6-BDB3-489997926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32" y="1834128"/>
            <a:ext cx="914400" cy="914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22D74F2-29D0-4E3A-A593-3E798243A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844" y="2914642"/>
            <a:ext cx="914400" cy="914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52474FA-F64C-438C-8B08-BF0A1CEA0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69" y="439787"/>
            <a:ext cx="914400" cy="914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8B1E88D-BA59-47C8-9D5A-84697D51E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10" y="3991049"/>
            <a:ext cx="548194" cy="54819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37D70C6-2A02-4EB3-874F-54919498A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935" y="5698687"/>
            <a:ext cx="548194" cy="54819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7221DCA-EF4E-48E0-8B31-E6D0A7CB5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3635" y="221740"/>
            <a:ext cx="548194" cy="548194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E4292E8-1A06-4B32-8C91-951756FAD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91" y="5621640"/>
            <a:ext cx="548194" cy="548194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23C3A41-3AF5-4A27-AEBD-A5F694282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41802">
            <a:off x="652207" y="2908055"/>
            <a:ext cx="914400" cy="9144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DA46C57-F724-440E-9134-5E31102D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61156">
            <a:off x="11179087" y="48229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51290" y="130916"/>
            <a:ext cx="11170702" cy="721910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/>
                <a:cs typeface="Arial" panose="020B0604020202020204" pitchFamily="34" charset="0"/>
              </a:rPr>
              <a:t>Демонстрация проекта</a:t>
            </a:r>
            <a:endParaRPr lang="en-US" sz="2800" b="1" dirty="0">
              <a:solidFill>
                <a:schemeClr val="bg2">
                  <a:lumMod val="50000"/>
                </a:schemeClr>
              </a:solidFill>
              <a:latin typeface="Montserra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8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9059" y="128723"/>
            <a:ext cx="10518338" cy="742766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Заключение</a:t>
            </a:r>
            <a:endParaRPr lang="en-US" sz="3600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3188" y="994734"/>
            <a:ext cx="11470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spc="-20" dirty="0">
                <a:latin typeface="Montserrat" pitchFamily="2" charset="-52"/>
              </a:rPr>
              <a:t>Разработано веб-приложение «</a:t>
            </a:r>
            <a:r>
              <a:rPr lang="ru-RU" sz="2000" i="1" spc="-20" dirty="0" err="1">
                <a:latin typeface="Montserrat" pitchFamily="2" charset="-52"/>
              </a:rPr>
              <a:t>Guitar</a:t>
            </a:r>
            <a:r>
              <a:rPr lang="ru-RU" sz="2000" i="1" spc="-20" dirty="0">
                <a:latin typeface="Montserrat" pitchFamily="2" charset="-52"/>
              </a:rPr>
              <a:t> </a:t>
            </a:r>
            <a:r>
              <a:rPr lang="ru-RU" sz="2000" i="1" spc="-20" dirty="0" err="1">
                <a:latin typeface="Montserrat" pitchFamily="2" charset="-52"/>
              </a:rPr>
              <a:t>Notepad</a:t>
            </a:r>
            <a:r>
              <a:rPr lang="ru-RU" sz="2000" spc="-20" dirty="0">
                <a:latin typeface="Montserrat" pitchFamily="2" charset="-52"/>
              </a:rPr>
              <a:t>» предназначенное для создания, хранения и публикации гитарных партий, аккордов, паттернов боя и альбомов.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335323" y="5050042"/>
            <a:ext cx="115245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Montserrat" pitchFamily="2" charset="-52"/>
                <a:cs typeface="Arial" panose="020B0604020202020204" pitchFamily="34" charset="0"/>
              </a:rPr>
              <a:t>Веб-приложение соответствует предъявленным требованиям и</a:t>
            </a:r>
            <a:r>
              <a:rPr lang="en-US" sz="2000" dirty="0">
                <a:latin typeface="Montserrat" pitchFamily="2" charset="-52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Montserrat" pitchFamily="2" charset="-52"/>
                <a:cs typeface="Arial" panose="020B0604020202020204" pitchFamily="34" charset="0"/>
              </a:rPr>
              <a:t>решает поставленные задачи. Цель дипломного проекта достигнута</a:t>
            </a:r>
            <a:r>
              <a:rPr lang="en-US" sz="2000" dirty="0">
                <a:latin typeface="Montserrat" pitchFamily="2" charset="-52"/>
                <a:cs typeface="Arial" panose="020B0604020202020204" pitchFamily="34" charset="0"/>
              </a:rPr>
              <a:t>.</a:t>
            </a:r>
            <a:endParaRPr lang="ru-RU" sz="2000" dirty="0"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79059" y="2079931"/>
            <a:ext cx="965046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Технологии: </a:t>
            </a:r>
            <a:r>
              <a:rPr lang="en-US" altLang="ru-RU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ASP.NET Core, Next.js, PostgreSQL, Entity </a:t>
            </a:r>
            <a:r>
              <a:rPr lang="en-US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Framework</a:t>
            </a:r>
            <a:r>
              <a:rPr lang="en-US" altLang="ru-RU" sz="2000" i="1" dirty="0">
                <a:latin typeface="Mongolian Baiti" panose="03000500000000000000" pitchFamily="66" charset="0"/>
                <a:cs typeface="Mongolian Baiti" panose="03000500000000000000" pitchFamily="66" charset="0"/>
              </a:rPr>
              <a:t> Core </a:t>
            </a:r>
            <a:endParaRPr lang="ru-RU" altLang="ru-RU" sz="2000" i="1" dirty="0">
              <a:latin typeface="Montserrat"/>
              <a:cs typeface="Mongolian Baiti" panose="03000500000000000000" pitchFamily="66" charset="0"/>
            </a:endParaRP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</a:t>
            </a:r>
            <a:r>
              <a:rPr lang="en-US" altLang="ru-RU" sz="2000" b="1" dirty="0">
                <a:latin typeface="Montserrat" pitchFamily="2" charset="-52"/>
              </a:rPr>
              <a:t>4</a:t>
            </a:r>
            <a:r>
              <a:rPr lang="ru-RU" altLang="ru-RU" sz="2000" dirty="0">
                <a:latin typeface="Montserrat" pitchFamily="2" charset="-52"/>
              </a:rPr>
              <a:t> пользовательские роли: Гость,</a:t>
            </a:r>
            <a:r>
              <a:rPr lang="en-US" altLang="ru-RU" sz="2000" dirty="0">
                <a:latin typeface="Montserrat" pitchFamily="2" charset="-52"/>
              </a:rPr>
              <a:t> </a:t>
            </a:r>
            <a:r>
              <a:rPr lang="ru-RU" altLang="ru-RU" sz="2000" dirty="0">
                <a:latin typeface="Montserrat" pitchFamily="2" charset="-52"/>
              </a:rPr>
              <a:t>Гитарист, Премиум, Администратор 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База данных: спроектировано </a:t>
            </a:r>
            <a:r>
              <a:rPr lang="ru-RU" altLang="ru-RU" sz="2000" b="1" dirty="0">
                <a:latin typeface="Montserrat" pitchFamily="2" charset="-52"/>
              </a:rPr>
              <a:t>14 </a:t>
            </a:r>
            <a:r>
              <a:rPr lang="ru-RU" altLang="ru-RU" sz="2000" dirty="0">
                <a:latin typeface="Montserrat" pitchFamily="2" charset="-52"/>
              </a:rPr>
              <a:t>таблиц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Реализовано: </a:t>
            </a:r>
            <a:r>
              <a:rPr lang="ru-RU" altLang="ru-RU" sz="2000" b="1" dirty="0">
                <a:latin typeface="Montserrat" pitchFamily="2" charset="-52"/>
              </a:rPr>
              <a:t>27</a:t>
            </a:r>
            <a:r>
              <a:rPr lang="ru-RU" altLang="ru-RU" sz="2000" dirty="0">
                <a:latin typeface="Montserrat" pitchFamily="2" charset="-52"/>
              </a:rPr>
              <a:t> функций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Функциональное тестирование: </a:t>
            </a:r>
            <a:r>
              <a:rPr lang="ru-RU" altLang="ru-RU" sz="2000" b="1" dirty="0">
                <a:latin typeface="Montserrat" pitchFamily="2" charset="-52"/>
              </a:rPr>
              <a:t>100%</a:t>
            </a:r>
            <a:r>
              <a:rPr lang="ru-RU" altLang="ru-RU" sz="2000" dirty="0">
                <a:latin typeface="Montserrat" pitchFamily="2" charset="-52"/>
              </a:rPr>
              <a:t> покрытие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Модульное тестирование: стабильная работа отдельных блоков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Документация: руководство пользователя для всех ролей</a:t>
            </a:r>
          </a:p>
          <a:p>
            <a:pPr marL="228646" marR="0" lvl="0" indent="-228646" defTabSz="914583" fontAlgn="base">
              <a:spcBef>
                <a:spcPct val="0"/>
              </a:spcBef>
              <a:buClrTx/>
              <a:buSzPct val="100000"/>
              <a:buBlip>
                <a:blip r:embed="rId2"/>
              </a:buBlip>
              <a:tabLst/>
            </a:pPr>
            <a:r>
              <a:rPr lang="ru-RU" altLang="ru-RU" sz="2000" dirty="0">
                <a:latin typeface="Montserrat" pitchFamily="2" charset="-52"/>
              </a:rPr>
              <a:t> Рентабельность проекта: </a:t>
            </a:r>
            <a:r>
              <a:rPr lang="ru-RU" altLang="ru-RU" sz="2000" b="1" dirty="0">
                <a:latin typeface="Montserrat" pitchFamily="2" charset="-52"/>
              </a:rPr>
              <a:t>41%</a:t>
            </a:r>
          </a:p>
        </p:txBody>
      </p:sp>
    </p:spTree>
    <p:extLst>
      <p:ext uri="{BB962C8B-B14F-4D97-AF65-F5344CB8AC3E}">
        <p14:creationId xmlns:p14="http://schemas.microsoft.com/office/powerpoint/2010/main" val="3477769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503" y="2393516"/>
            <a:ext cx="10518338" cy="1325870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Montserrat" pitchFamily="2" charset="-52"/>
                <a:cs typeface="Arial" panose="020B0604020202020204" pitchFamily="34" charset="0"/>
              </a:rPr>
              <a:t>Спасибо за внимание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Montserrat" pitchFamily="2" charset="-52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51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242"/>
      </a:accent1>
      <a:accent2>
        <a:srgbClr val="757070"/>
      </a:accent2>
      <a:accent3>
        <a:srgbClr val="A5A5A5"/>
      </a:accent3>
      <a:accent4>
        <a:srgbClr val="FF0101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17118</TotalTime>
  <Words>714</Words>
  <Application>Microsoft Office PowerPoint</Application>
  <PresentationFormat>Произвольный</PresentationFormat>
  <Paragraphs>173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Mongolian Baiti</vt:lpstr>
      <vt:lpstr>Montserrat</vt:lpstr>
      <vt:lpstr>Symbol</vt:lpstr>
      <vt:lpstr>Times New Roman</vt:lpstr>
      <vt:lpstr>wingdings</vt:lpstr>
      <vt:lpstr>wingdings</vt:lpstr>
      <vt:lpstr>Тема Office</vt:lpstr>
      <vt:lpstr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программной инженерии    Тема дипломного проекта: «Веб-приложение «Гитарный блокнот»»                           Дипломник: Селицкий Николай Евгеньевич       Руководитель:    ассис. Харланович Анастасия Владимировна                                                        </vt:lpstr>
      <vt:lpstr>Актуальность</vt:lpstr>
      <vt:lpstr>Цель дипломного проекта</vt:lpstr>
      <vt:lpstr>Презентация PowerPoint</vt:lpstr>
      <vt:lpstr>Диаграмма вариантов использования</vt:lpstr>
      <vt:lpstr>Логическая схема базы данных</vt:lpstr>
      <vt:lpstr>Диаграмма развертывания веб-приложения</vt:lpstr>
      <vt:lpstr>Используемые технологии и средства разработки </vt:lpstr>
      <vt:lpstr>Блок-схема алгоритма создания аккорда</vt:lpstr>
      <vt:lpstr>Диаграмма последовательности создания паттерна игры</vt:lpstr>
      <vt:lpstr>Тестирование веб-приложения</vt:lpstr>
      <vt:lpstr>Экономическое обоснование стоимости проекта</vt:lpstr>
      <vt:lpstr>Демонстрация проекта</vt:lpstr>
      <vt:lpstr>Заключение</vt:lpstr>
      <vt:lpstr>Спасибо за внимание</vt:lpstr>
    </vt:vector>
  </TitlesOfParts>
  <Company>SAP Ariba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Ariba Supplier Management Innovation Overview</dc:title>
  <dc:creator>Николай Селицкий</dc:creator>
  <cp:keywords>2016/16:9/white</cp:keywords>
  <cp:lastModifiedBy>Николай Селицкий</cp:lastModifiedBy>
  <cp:revision>765</cp:revision>
  <dcterms:created xsi:type="dcterms:W3CDTF">2015-10-08T14:10:57Z</dcterms:created>
  <dcterms:modified xsi:type="dcterms:W3CDTF">2026-05-26T20:44:42Z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-504340922</vt:i4>
  </property>
  <property fmtid="{D5CDD505-2E9C-101B-9397-08002B2CF9AE}" pid="3" name="_NewReviewCycle">
    <vt:lpwstr/>
  </property>
  <property fmtid="{D5CDD505-2E9C-101B-9397-08002B2CF9AE}" pid="4" name="_EmailSubject">
    <vt:lpwstr>SM breakout session</vt:lpwstr>
  </property>
  <property fmtid="{D5CDD505-2E9C-101B-9397-08002B2CF9AE}" pid="5" name="_AuthorEmail">
    <vt:lpwstr>maria.elena.gammon@sap.com</vt:lpwstr>
  </property>
  <property fmtid="{D5CDD505-2E9C-101B-9397-08002B2CF9AE}" pid="6" name="_AuthorEmailDisplayName">
    <vt:lpwstr>Gammon, Maria Elena</vt:lpwstr>
  </property>
  <property fmtid="{D5CDD505-2E9C-101B-9397-08002B2CF9AE}" pid="7" name="_PreviousAdHocReviewCycleID">
    <vt:i4>-156448419</vt:i4>
  </property>
</Properties>
</file>